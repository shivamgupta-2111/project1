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Pipeline CRM takes a deal from first conversation to paid invoice, with the right view and the right controls for each person on your team. In the next few slides I will walk through what each role 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system, three tailored experiences. Reps see only their own deals. Admin and CEO see the whole company. Access to approvals, reports, settings and the audit log is limited to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Reps spend their day here. Highlight the call log with automatic follow-ups, and the templates that save typing. Discounts up to the auto-approve limit need no approval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rep toolkit. Reps only ever see their own deals, tasks, invoices and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 keeps the machine running: approvals, invoices, payments and the team. Click any rep name anywhere in the app to open that rep’s full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 has everything a rep has on any deal, plus finance, team management, reporting and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CEO sees every pending approval and has the last word on pricing policy. Lost-deal reasons show where revenue is leaking, for example price versus competitor versus timing.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CEO owns pricing policy and has the last word on large discounts, with full visibility into performance and an audit trail behind every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sales cycle in one place. Approval limits shown are the defaults and can be changed in Settings. Every step is written to the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agreeing the first step, ideally a live walkthrough with your data. Ask which roles and how many users they have so the setup can be scoped.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548640" y="1417320"/>
            <a:ext cx="82296" cy="1600200"/>
          </a:xfrm>
          <a:prstGeom prst="rect">
            <a:avLst/>
          </a:prstGeom>
          <a:solidFill>
            <a:srgbClr val="E87722"/>
          </a:solidFill>
          <a:ln w="12700">
            <a:solidFill>
              <a:srgbClr val="E87722"/>
            </a:solidFill>
            <a:prstDash val="solid"/>
          </a:ln>
        </p:spPr>
      </p:sp>
      <p:sp>
        <p:nvSpPr>
          <p:cNvPr id="3" name="Text 1"/>
          <p:cNvSpPr txBox="1"/>
          <p:nvPr/>
        </p:nvSpPr>
        <p:spPr>
          <a:xfrm>
            <a:off x="868680" y="1325880"/>
            <a:ext cx="7772400" cy="82296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Pipeline CRM</a:t>
            </a:r>
            <a:endParaRPr lang="en-US" sz="4800" dirty="0"/>
          </a:p>
        </p:txBody>
      </p:sp>
      <p:sp>
        <p:nvSpPr>
          <p:cNvPr id="4" name="Text 2"/>
          <p:cNvSpPr txBox="1"/>
          <p:nvPr/>
        </p:nvSpPr>
        <p:spPr>
          <a:xfrm>
            <a:off x="868680" y="2194560"/>
            <a:ext cx="7498080" cy="822960"/>
          </a:xfrm>
          <a:prstGeom prst="rect">
            <a:avLst/>
          </a:prstGeom>
          <a:noFill/>
          <a:ln/>
        </p:spPr>
        <p:txBody>
          <a:bodyPr wrap="square" lIns="0" tIns="0" rIns="0" bIns="0" rtlCol="0" anchor="ctr"/>
          <a:lstStyle/>
          <a:p>
            <a:pPr indent="0" marL="0">
              <a:buNone/>
            </a:pPr>
            <a:r>
              <a:rPr lang="en-US" sz="2000" dirty="0">
                <a:solidFill>
                  <a:srgbClr val="C9CAD3"/>
                </a:solidFill>
                <a:latin typeface="Calibri" pitchFamily="34" charset="0"/>
                <a:ea typeface="Calibri" pitchFamily="34" charset="-122"/>
                <a:cs typeface="Calibri" pitchFamily="34" charset="-120"/>
              </a:rPr>
              <a:t>One platform for your sales reps, admins and leadership</a:t>
            </a:r>
            <a:endParaRPr lang="en-US" sz="2000" dirty="0"/>
          </a:p>
        </p:txBody>
      </p:sp>
      <p:sp>
        <p:nvSpPr>
          <p:cNvPr id="5" name="Shape 3"/>
          <p:cNvSpPr/>
          <p:nvPr/>
        </p:nvSpPr>
        <p:spPr>
          <a:xfrm>
            <a:off x="868680" y="3886200"/>
            <a:ext cx="1371600" cy="384048"/>
          </a:xfrm>
          <a:prstGeom prst="roundRect">
            <a:avLst>
              <a:gd name="adj" fmla="val 19048"/>
            </a:avLst>
          </a:prstGeom>
          <a:solidFill>
            <a:srgbClr val="1A1A2E"/>
          </a:solidFill>
          <a:ln w="12700">
            <a:solidFill>
              <a:srgbClr val="E87722"/>
            </a:solidFill>
            <a:prstDash val="solid"/>
          </a:ln>
        </p:spPr>
      </p:sp>
      <p:sp>
        <p:nvSpPr>
          <p:cNvPr id="6" name="Text 4"/>
          <p:cNvSpPr txBox="1"/>
          <p:nvPr/>
        </p:nvSpPr>
        <p:spPr>
          <a:xfrm>
            <a:off x="868680" y="3886200"/>
            <a:ext cx="1371600" cy="384048"/>
          </a:xfrm>
          <a:prstGeom prst="rect">
            <a:avLst/>
          </a:prstGeom>
          <a:noFill/>
          <a:ln/>
        </p:spPr>
        <p:txBody>
          <a:bodyPr wrap="square" lIns="0" tIns="0" rIns="0" bIns="0" rtlCol="0" anchor="ctr"/>
          <a:lstStyle/>
          <a:p>
            <a:pPr algn="ctr" indent="0" marL="0">
              <a:buNone/>
            </a:pPr>
            <a:r>
              <a:rPr lang="en-US" sz="1200" b="1" dirty="0">
                <a:solidFill>
                  <a:srgbClr val="E87722"/>
                </a:solidFill>
                <a:latin typeface="Calibri" pitchFamily="34" charset="0"/>
                <a:ea typeface="Calibri" pitchFamily="34" charset="-122"/>
                <a:cs typeface="Calibri" pitchFamily="34" charset="-120"/>
              </a:rPr>
              <a:t>Sales Rep</a:t>
            </a:r>
            <a:endParaRPr lang="en-US" sz="1200" dirty="0"/>
          </a:p>
        </p:txBody>
      </p:sp>
      <p:sp>
        <p:nvSpPr>
          <p:cNvPr id="7" name="Shape 5"/>
          <p:cNvSpPr/>
          <p:nvPr/>
        </p:nvSpPr>
        <p:spPr>
          <a:xfrm>
            <a:off x="2423160" y="3886200"/>
            <a:ext cx="1371600" cy="384048"/>
          </a:xfrm>
          <a:prstGeom prst="roundRect">
            <a:avLst>
              <a:gd name="adj" fmla="val 19048"/>
            </a:avLst>
          </a:prstGeom>
          <a:solidFill>
            <a:srgbClr val="1A1A2E"/>
          </a:solidFill>
          <a:ln w="12700">
            <a:solidFill>
              <a:srgbClr val="E87722"/>
            </a:solidFill>
            <a:prstDash val="solid"/>
          </a:ln>
        </p:spPr>
      </p:sp>
      <p:sp>
        <p:nvSpPr>
          <p:cNvPr id="8" name="Text 6"/>
          <p:cNvSpPr txBox="1"/>
          <p:nvPr/>
        </p:nvSpPr>
        <p:spPr>
          <a:xfrm>
            <a:off x="2423160" y="3886200"/>
            <a:ext cx="1371600" cy="384048"/>
          </a:xfrm>
          <a:prstGeom prst="rect">
            <a:avLst/>
          </a:prstGeom>
          <a:noFill/>
          <a:ln/>
        </p:spPr>
        <p:txBody>
          <a:bodyPr wrap="square" lIns="0" tIns="0" rIns="0" bIns="0" rtlCol="0" anchor="ctr"/>
          <a:lstStyle/>
          <a:p>
            <a:pPr algn="ctr" indent="0" marL="0">
              <a:buNone/>
            </a:pPr>
            <a:r>
              <a:rPr lang="en-US" sz="1200" b="1" dirty="0">
                <a:solidFill>
                  <a:srgbClr val="E87722"/>
                </a:solidFill>
                <a:latin typeface="Calibri" pitchFamily="34" charset="0"/>
                <a:ea typeface="Calibri" pitchFamily="34" charset="-122"/>
                <a:cs typeface="Calibri" pitchFamily="34" charset="-120"/>
              </a:rPr>
              <a:t>Admin</a:t>
            </a:r>
            <a:endParaRPr lang="en-US" sz="1200" dirty="0"/>
          </a:p>
        </p:txBody>
      </p:sp>
      <p:sp>
        <p:nvSpPr>
          <p:cNvPr id="9" name="Shape 7"/>
          <p:cNvSpPr/>
          <p:nvPr/>
        </p:nvSpPr>
        <p:spPr>
          <a:xfrm>
            <a:off x="3977640" y="3886200"/>
            <a:ext cx="1371600" cy="384048"/>
          </a:xfrm>
          <a:prstGeom prst="roundRect">
            <a:avLst>
              <a:gd name="adj" fmla="val 19048"/>
            </a:avLst>
          </a:prstGeom>
          <a:solidFill>
            <a:srgbClr val="1A1A2E"/>
          </a:solidFill>
          <a:ln w="12700">
            <a:solidFill>
              <a:srgbClr val="E87722"/>
            </a:solidFill>
            <a:prstDash val="solid"/>
          </a:ln>
        </p:spPr>
      </p:sp>
      <p:sp>
        <p:nvSpPr>
          <p:cNvPr id="10" name="Text 8"/>
          <p:cNvSpPr txBox="1"/>
          <p:nvPr/>
        </p:nvSpPr>
        <p:spPr>
          <a:xfrm>
            <a:off x="3977640" y="3886200"/>
            <a:ext cx="1371600" cy="384048"/>
          </a:xfrm>
          <a:prstGeom prst="rect">
            <a:avLst/>
          </a:prstGeom>
          <a:noFill/>
          <a:ln/>
        </p:spPr>
        <p:txBody>
          <a:bodyPr wrap="square" lIns="0" tIns="0" rIns="0" bIns="0" rtlCol="0" anchor="ctr"/>
          <a:lstStyle/>
          <a:p>
            <a:pPr algn="ctr" indent="0" marL="0">
              <a:buNone/>
            </a:pPr>
            <a:r>
              <a:rPr lang="en-US" sz="1200" b="1" dirty="0">
                <a:solidFill>
                  <a:srgbClr val="E87722"/>
                </a:solidFill>
                <a:latin typeface="Calibri" pitchFamily="34" charset="0"/>
                <a:ea typeface="Calibri" pitchFamily="34" charset="-122"/>
                <a:cs typeface="Calibri" pitchFamily="34" charset="-120"/>
              </a:rPr>
              <a:t>CEO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5"/>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7722"/>
          </a:solidFill>
          <a:ln w="12700">
            <a:solidFill>
              <a:srgbClr val="E87722"/>
            </a:solidFill>
            <a:prstDash val="solid"/>
          </a:ln>
        </p:spPr>
      </p:sp>
      <p:sp>
        <p:nvSpPr>
          <p:cNvPr id="3" name="Text 1"/>
          <p:cNvSpPr txBox="1"/>
          <p:nvPr/>
        </p:nvSpPr>
        <p:spPr>
          <a:xfrm>
            <a:off x="548640" y="256032"/>
            <a:ext cx="3657600" cy="256032"/>
          </a:xfrm>
          <a:prstGeom prst="rect">
            <a:avLst/>
          </a:prstGeom>
          <a:noFill/>
          <a:ln/>
        </p:spPr>
        <p:txBody>
          <a:bodyPr wrap="square" lIns="0" tIns="0" rIns="0" bIns="0" rtlCol="0" anchor="ctr"/>
          <a:lstStyle/>
          <a:p>
            <a:pPr indent="0" marL="0">
              <a:buNone/>
            </a:pPr>
            <a:r>
              <a:rPr lang="en-US" sz="1100" b="1" spc="300" kern="0" dirty="0">
                <a:solidFill>
                  <a:srgbClr val="E87722"/>
                </a:solidFill>
                <a:latin typeface="Calibri" pitchFamily="34" charset="0"/>
                <a:ea typeface="Calibri" pitchFamily="34" charset="-122"/>
                <a:cs typeface="Calibri" pitchFamily="34" charset="-120"/>
              </a:rPr>
              <a:t>THE PLATFORM</a:t>
            </a:r>
            <a:endParaRPr lang="en-US" sz="1100" dirty="0"/>
          </a:p>
        </p:txBody>
      </p:sp>
      <p:sp>
        <p:nvSpPr>
          <p:cNvPr id="4" name="Text 2"/>
          <p:cNvSpPr txBox="1"/>
          <p:nvPr/>
        </p:nvSpPr>
        <p:spPr>
          <a:xfrm>
            <a:off x="548640" y="502920"/>
            <a:ext cx="8046720" cy="548640"/>
          </a:xfrm>
          <a:prstGeom prst="rect">
            <a:avLst/>
          </a:prstGeom>
          <a:noFill/>
          <a:ln/>
        </p:spPr>
        <p:txBody>
          <a:bodyPr wrap="square" lIns="0" tIns="0" rIns="0" bIns="0" rtlCol="0" anchor="ctr"/>
          <a:lstStyle/>
          <a:p>
            <a:pPr indent="0" marL="0">
              <a:buNone/>
            </a:pPr>
            <a:r>
              <a:rPr lang="en-US" sz="2800" b="1" dirty="0">
                <a:solidFill>
                  <a:srgbClr val="1A1A2E"/>
                </a:solidFill>
                <a:latin typeface="Calibri" pitchFamily="34" charset="0"/>
                <a:ea typeface="Calibri" pitchFamily="34" charset="-122"/>
                <a:cs typeface="Calibri" pitchFamily="34" charset="-120"/>
              </a:rPr>
              <a:t>One platform, three portals</a:t>
            </a:r>
            <a:endParaRPr lang="en-US" sz="2800" dirty="0"/>
          </a:p>
        </p:txBody>
      </p:sp>
      <p:sp>
        <p:nvSpPr>
          <p:cNvPr id="5" name="Text 3"/>
          <p:cNvSpPr txBox="1"/>
          <p:nvPr/>
        </p:nvSpPr>
        <p:spPr>
          <a:xfrm>
            <a:off x="548640" y="1024128"/>
            <a:ext cx="8046720" cy="274320"/>
          </a:xfrm>
          <a:prstGeom prst="rect">
            <a:avLst/>
          </a:prstGeom>
          <a:noFill/>
          <a:ln/>
        </p:spPr>
        <p:txBody>
          <a:bodyPr wrap="square" lIns="0" tIns="0" rIns="0" bIns="0" rtlCol="0" anchor="ctr"/>
          <a:lstStyle/>
          <a:p>
            <a:pPr indent="0" marL="0">
              <a:buNone/>
            </a:pPr>
            <a:r>
              <a:rPr lang="en-US" sz="1300" dirty="0">
                <a:solidFill>
                  <a:srgbClr val="6E6E73"/>
                </a:solidFill>
                <a:latin typeface="Calibri" pitchFamily="34" charset="0"/>
                <a:ea typeface="Calibri" pitchFamily="34" charset="-122"/>
                <a:cs typeface="Calibri" pitchFamily="34" charset="-120"/>
              </a:rPr>
              <a:t>Everyone sees what they need, and nothing they should not.</a:t>
            </a:r>
            <a:endParaRPr lang="en-US" sz="1300" dirty="0"/>
          </a:p>
        </p:txBody>
      </p:sp>
      <p:sp>
        <p:nvSpPr>
          <p:cNvPr id="6" name="Shape 4"/>
          <p:cNvSpPr/>
          <p:nvPr/>
        </p:nvSpPr>
        <p:spPr>
          <a:xfrm>
            <a:off x="548640" y="1600200"/>
            <a:ext cx="2560320" cy="292608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48640" y="1600200"/>
            <a:ext cx="2560320" cy="82296"/>
          </a:xfrm>
          <a:prstGeom prst="rect">
            <a:avLst/>
          </a:prstGeom>
          <a:solidFill>
            <a:srgbClr val="E87722"/>
          </a:solidFill>
          <a:ln w="12700">
            <a:solidFill>
              <a:srgbClr val="E87722"/>
            </a:solidFill>
            <a:prstDash val="solid"/>
          </a:ln>
        </p:spPr>
      </p:sp>
      <p:sp>
        <p:nvSpPr>
          <p:cNvPr id="8" name="Text 6"/>
          <p:cNvSpPr txBox="1"/>
          <p:nvPr/>
        </p:nvSpPr>
        <p:spPr>
          <a:xfrm>
            <a:off x="777240" y="1874520"/>
            <a:ext cx="2103120" cy="411480"/>
          </a:xfrm>
          <a:prstGeom prst="rect">
            <a:avLst/>
          </a:prstGeom>
          <a:noFill/>
          <a:ln/>
        </p:spPr>
        <p:txBody>
          <a:bodyPr wrap="square" lIns="0" tIns="0" rIns="0" bIns="0" rtlCol="0" anchor="ctr"/>
          <a:lstStyle/>
          <a:p>
            <a:pPr indent="0" marL="0">
              <a:buNone/>
            </a:pPr>
            <a:r>
              <a:rPr lang="en-US" sz="2200" b="1" dirty="0">
                <a:solidFill>
                  <a:srgbClr val="1A1A2E"/>
                </a:solidFill>
                <a:latin typeface="Calibri" pitchFamily="34" charset="0"/>
                <a:ea typeface="Calibri" pitchFamily="34" charset="-122"/>
                <a:cs typeface="Calibri" pitchFamily="34" charset="-120"/>
              </a:rPr>
              <a:t>Sales Rep</a:t>
            </a:r>
            <a:endParaRPr lang="en-US" sz="2200" dirty="0"/>
          </a:p>
        </p:txBody>
      </p:sp>
      <p:sp>
        <p:nvSpPr>
          <p:cNvPr id="9" name="Text 7"/>
          <p:cNvSpPr txBox="1"/>
          <p:nvPr/>
        </p:nvSpPr>
        <p:spPr>
          <a:xfrm>
            <a:off x="777240" y="2286000"/>
            <a:ext cx="2103120" cy="320040"/>
          </a:xfrm>
          <a:prstGeom prst="rect">
            <a:avLst/>
          </a:prstGeom>
          <a:noFill/>
          <a:ln/>
        </p:spPr>
        <p:txBody>
          <a:bodyPr wrap="square" lIns="0" tIns="0" rIns="0" bIns="0" rtlCol="0" anchor="ctr"/>
          <a:lstStyle/>
          <a:p>
            <a:pPr indent="0" marL="0">
              <a:buNone/>
            </a:pPr>
            <a:r>
              <a:rPr lang="en-US" sz="1250" i="1" dirty="0">
                <a:solidFill>
                  <a:srgbClr val="D45F1A"/>
                </a:solidFill>
                <a:latin typeface="Calibri" pitchFamily="34" charset="0"/>
                <a:ea typeface="Calibri" pitchFamily="34" charset="-122"/>
                <a:cs typeface="Calibri" pitchFamily="34" charset="-120"/>
              </a:rPr>
              <a:t>Close more, chase less</a:t>
            </a:r>
            <a:endParaRPr lang="en-US" sz="1250" dirty="0"/>
          </a:p>
        </p:txBody>
      </p:sp>
      <p:sp>
        <p:nvSpPr>
          <p:cNvPr id="10" name="Text 8"/>
          <p:cNvSpPr txBox="1"/>
          <p:nvPr/>
        </p:nvSpPr>
        <p:spPr>
          <a:xfrm>
            <a:off x="777240" y="2834640"/>
            <a:ext cx="2103120" cy="14630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Own pipeline and tasks</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Quotes, calls and follow-ups</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Target progress at a glance</a:t>
            </a:r>
            <a:endParaRPr lang="en-US" sz="1300" dirty="0"/>
          </a:p>
        </p:txBody>
      </p:sp>
      <p:sp>
        <p:nvSpPr>
          <p:cNvPr id="11" name="Shape 9"/>
          <p:cNvSpPr/>
          <p:nvPr/>
        </p:nvSpPr>
        <p:spPr>
          <a:xfrm>
            <a:off x="3337560" y="1600200"/>
            <a:ext cx="2560320" cy="292608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12" name="Shape 10"/>
          <p:cNvSpPr/>
          <p:nvPr/>
        </p:nvSpPr>
        <p:spPr>
          <a:xfrm>
            <a:off x="3337560" y="1600200"/>
            <a:ext cx="2560320" cy="82296"/>
          </a:xfrm>
          <a:prstGeom prst="rect">
            <a:avLst/>
          </a:prstGeom>
          <a:solidFill>
            <a:srgbClr val="E87722"/>
          </a:solidFill>
          <a:ln w="12700">
            <a:solidFill>
              <a:srgbClr val="E87722"/>
            </a:solidFill>
            <a:prstDash val="solid"/>
          </a:ln>
        </p:spPr>
      </p:sp>
      <p:sp>
        <p:nvSpPr>
          <p:cNvPr id="13" name="Text 11"/>
          <p:cNvSpPr txBox="1"/>
          <p:nvPr/>
        </p:nvSpPr>
        <p:spPr>
          <a:xfrm>
            <a:off x="3566160" y="1874520"/>
            <a:ext cx="2103120" cy="411480"/>
          </a:xfrm>
          <a:prstGeom prst="rect">
            <a:avLst/>
          </a:prstGeom>
          <a:noFill/>
          <a:ln/>
        </p:spPr>
        <p:txBody>
          <a:bodyPr wrap="square" lIns="0" tIns="0" rIns="0" bIns="0" rtlCol="0" anchor="ctr"/>
          <a:lstStyle/>
          <a:p>
            <a:pPr indent="0" marL="0">
              <a:buNone/>
            </a:pPr>
            <a:r>
              <a:rPr lang="en-US" sz="2200" b="1" dirty="0">
                <a:solidFill>
                  <a:srgbClr val="1A1A2E"/>
                </a:solidFill>
                <a:latin typeface="Calibri" pitchFamily="34" charset="0"/>
                <a:ea typeface="Calibri" pitchFamily="34" charset="-122"/>
                <a:cs typeface="Calibri" pitchFamily="34" charset="-120"/>
              </a:rPr>
              <a:t>Admin</a:t>
            </a:r>
            <a:endParaRPr lang="en-US" sz="2200" dirty="0"/>
          </a:p>
        </p:txBody>
      </p:sp>
      <p:sp>
        <p:nvSpPr>
          <p:cNvPr id="14" name="Text 12"/>
          <p:cNvSpPr txBox="1"/>
          <p:nvPr/>
        </p:nvSpPr>
        <p:spPr>
          <a:xfrm>
            <a:off x="3566160" y="2286000"/>
            <a:ext cx="2103120" cy="320040"/>
          </a:xfrm>
          <a:prstGeom prst="rect">
            <a:avLst/>
          </a:prstGeom>
          <a:noFill/>
          <a:ln/>
        </p:spPr>
        <p:txBody>
          <a:bodyPr wrap="square" lIns="0" tIns="0" rIns="0" bIns="0" rtlCol="0" anchor="ctr"/>
          <a:lstStyle/>
          <a:p>
            <a:pPr indent="0" marL="0">
              <a:buNone/>
            </a:pPr>
            <a:r>
              <a:rPr lang="en-US" sz="1250" i="1" dirty="0">
                <a:solidFill>
                  <a:srgbClr val="D45F1A"/>
                </a:solidFill>
                <a:latin typeface="Calibri" pitchFamily="34" charset="0"/>
                <a:ea typeface="Calibri" pitchFamily="34" charset="-122"/>
                <a:cs typeface="Calibri" pitchFamily="34" charset="-120"/>
              </a:rPr>
              <a:t>Keep the business running</a:t>
            </a:r>
            <a:endParaRPr lang="en-US" sz="1250" dirty="0"/>
          </a:p>
        </p:txBody>
      </p:sp>
      <p:sp>
        <p:nvSpPr>
          <p:cNvPr id="15" name="Text 13"/>
          <p:cNvSpPr txBox="1"/>
          <p:nvPr/>
        </p:nvSpPr>
        <p:spPr>
          <a:xfrm>
            <a:off x="3566160" y="2834640"/>
            <a:ext cx="2103120" cy="14630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Company-wide visibility</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Approvals, invoices, payments</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Team, reports and settings</a:t>
            </a:r>
            <a:endParaRPr lang="en-US" sz="1300" dirty="0"/>
          </a:p>
        </p:txBody>
      </p:sp>
      <p:sp>
        <p:nvSpPr>
          <p:cNvPr id="16" name="Shape 14"/>
          <p:cNvSpPr/>
          <p:nvPr/>
        </p:nvSpPr>
        <p:spPr>
          <a:xfrm>
            <a:off x="6126480" y="1600200"/>
            <a:ext cx="2560320" cy="292608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17" name="Shape 15"/>
          <p:cNvSpPr/>
          <p:nvPr/>
        </p:nvSpPr>
        <p:spPr>
          <a:xfrm>
            <a:off x="6126480" y="1600200"/>
            <a:ext cx="2560320" cy="82296"/>
          </a:xfrm>
          <a:prstGeom prst="rect">
            <a:avLst/>
          </a:prstGeom>
          <a:solidFill>
            <a:srgbClr val="E87722"/>
          </a:solidFill>
          <a:ln w="12700">
            <a:solidFill>
              <a:srgbClr val="E87722"/>
            </a:solidFill>
            <a:prstDash val="solid"/>
          </a:ln>
        </p:spPr>
      </p:sp>
      <p:sp>
        <p:nvSpPr>
          <p:cNvPr id="18" name="Text 16"/>
          <p:cNvSpPr txBox="1"/>
          <p:nvPr/>
        </p:nvSpPr>
        <p:spPr>
          <a:xfrm>
            <a:off x="6355080" y="1874520"/>
            <a:ext cx="2103120" cy="411480"/>
          </a:xfrm>
          <a:prstGeom prst="rect">
            <a:avLst/>
          </a:prstGeom>
          <a:noFill/>
          <a:ln/>
        </p:spPr>
        <p:txBody>
          <a:bodyPr wrap="square" lIns="0" tIns="0" rIns="0" bIns="0" rtlCol="0" anchor="ctr"/>
          <a:lstStyle/>
          <a:p>
            <a:pPr indent="0" marL="0">
              <a:buNone/>
            </a:pPr>
            <a:r>
              <a:rPr lang="en-US" sz="2200" b="1" dirty="0">
                <a:solidFill>
                  <a:srgbClr val="1A1A2E"/>
                </a:solidFill>
                <a:latin typeface="Calibri" pitchFamily="34" charset="0"/>
                <a:ea typeface="Calibri" pitchFamily="34" charset="-122"/>
                <a:cs typeface="Calibri" pitchFamily="34" charset="-120"/>
              </a:rPr>
              <a:t>CEO</a:t>
            </a:r>
            <a:endParaRPr lang="en-US" sz="2200" dirty="0"/>
          </a:p>
        </p:txBody>
      </p:sp>
      <p:sp>
        <p:nvSpPr>
          <p:cNvPr id="19" name="Text 17"/>
          <p:cNvSpPr txBox="1"/>
          <p:nvPr/>
        </p:nvSpPr>
        <p:spPr>
          <a:xfrm>
            <a:off x="6355080" y="2286000"/>
            <a:ext cx="2103120" cy="320040"/>
          </a:xfrm>
          <a:prstGeom prst="rect">
            <a:avLst/>
          </a:prstGeom>
          <a:noFill/>
          <a:ln/>
        </p:spPr>
        <p:txBody>
          <a:bodyPr wrap="square" lIns="0" tIns="0" rIns="0" bIns="0" rtlCol="0" anchor="ctr"/>
          <a:lstStyle/>
          <a:p>
            <a:pPr indent="0" marL="0">
              <a:buNone/>
            </a:pPr>
            <a:r>
              <a:rPr lang="en-US" sz="1250" i="1" dirty="0">
                <a:solidFill>
                  <a:srgbClr val="D45F1A"/>
                </a:solidFill>
                <a:latin typeface="Calibri" pitchFamily="34" charset="0"/>
                <a:ea typeface="Calibri" pitchFamily="34" charset="-122"/>
                <a:cs typeface="Calibri" pitchFamily="34" charset="-120"/>
              </a:rPr>
              <a:t>Lead with confidence</a:t>
            </a:r>
            <a:endParaRPr lang="en-US" sz="1250" dirty="0"/>
          </a:p>
        </p:txBody>
      </p:sp>
      <p:sp>
        <p:nvSpPr>
          <p:cNvPr id="20" name="Text 18"/>
          <p:cNvSpPr txBox="1"/>
          <p:nvPr/>
        </p:nvSpPr>
        <p:spPr>
          <a:xfrm>
            <a:off x="6355080" y="2834640"/>
            <a:ext cx="2103120" cy="14630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Executive overview</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Final approval on big discounts</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Reports and full audit trail</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5"/>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7722"/>
          </a:solidFill>
          <a:ln w="12700">
            <a:solidFill>
              <a:srgbClr val="E87722"/>
            </a:solidFill>
            <a:prstDash val="solid"/>
          </a:ln>
        </p:spPr>
      </p:sp>
      <p:sp>
        <p:nvSpPr>
          <p:cNvPr id="3" name="Text 1"/>
          <p:cNvSpPr txBox="1"/>
          <p:nvPr/>
        </p:nvSpPr>
        <p:spPr>
          <a:xfrm>
            <a:off x="548640" y="256032"/>
            <a:ext cx="3657600" cy="256032"/>
          </a:xfrm>
          <a:prstGeom prst="rect">
            <a:avLst/>
          </a:prstGeom>
          <a:noFill/>
          <a:ln/>
        </p:spPr>
        <p:txBody>
          <a:bodyPr wrap="square" lIns="0" tIns="0" rIns="0" bIns="0" rtlCol="0" anchor="ctr"/>
          <a:lstStyle/>
          <a:p>
            <a:pPr indent="0" marL="0">
              <a:buNone/>
            </a:pPr>
            <a:r>
              <a:rPr lang="en-US" sz="1100" b="1" spc="300" kern="0" dirty="0">
                <a:solidFill>
                  <a:srgbClr val="E87722"/>
                </a:solidFill>
                <a:latin typeface="Calibri" pitchFamily="34" charset="0"/>
                <a:ea typeface="Calibri" pitchFamily="34" charset="-122"/>
                <a:cs typeface="Calibri" pitchFamily="34" charset="-120"/>
              </a:rPr>
              <a:t>SALES REP</a:t>
            </a:r>
            <a:endParaRPr lang="en-US" sz="1100" dirty="0"/>
          </a:p>
        </p:txBody>
      </p:sp>
      <p:sp>
        <p:nvSpPr>
          <p:cNvPr id="4" name="Text 2"/>
          <p:cNvSpPr txBox="1"/>
          <p:nvPr/>
        </p:nvSpPr>
        <p:spPr>
          <a:xfrm>
            <a:off x="548640" y="502920"/>
            <a:ext cx="8046720" cy="548640"/>
          </a:xfrm>
          <a:prstGeom prst="rect">
            <a:avLst/>
          </a:prstGeom>
          <a:noFill/>
          <a:ln/>
        </p:spPr>
        <p:txBody>
          <a:bodyPr wrap="square" lIns="0" tIns="0" rIns="0" bIns="0" rtlCol="0" anchor="ctr"/>
          <a:lstStyle/>
          <a:p>
            <a:pPr indent="0" marL="0">
              <a:buNone/>
            </a:pPr>
            <a:r>
              <a:rPr lang="en-US" sz="2800" b="1" dirty="0">
                <a:solidFill>
                  <a:srgbClr val="1A1A2E"/>
                </a:solidFill>
                <a:latin typeface="Calibri" pitchFamily="34" charset="0"/>
                <a:ea typeface="Calibri" pitchFamily="34" charset="-122"/>
                <a:cs typeface="Calibri" pitchFamily="34" charset="-120"/>
              </a:rPr>
              <a:t>Everything a rep needs to close</a:t>
            </a:r>
            <a:endParaRPr lang="en-US" sz="2800" dirty="0"/>
          </a:p>
        </p:txBody>
      </p:sp>
      <p:sp>
        <p:nvSpPr>
          <p:cNvPr id="5" name="Text 3"/>
          <p:cNvSpPr txBox="1"/>
          <p:nvPr/>
        </p:nvSpPr>
        <p:spPr>
          <a:xfrm>
            <a:off x="548640" y="1024128"/>
            <a:ext cx="8046720" cy="274320"/>
          </a:xfrm>
          <a:prstGeom prst="rect">
            <a:avLst/>
          </a:prstGeom>
          <a:noFill/>
          <a:ln/>
        </p:spPr>
        <p:txBody>
          <a:bodyPr wrap="square" lIns="0" tIns="0" rIns="0" bIns="0" rtlCol="0" anchor="ctr"/>
          <a:lstStyle/>
          <a:p>
            <a:pPr indent="0" marL="0">
              <a:buNone/>
            </a:pPr>
            <a:r>
              <a:rPr lang="en-US" sz="1300" dirty="0">
                <a:solidFill>
                  <a:srgbClr val="6E6E73"/>
                </a:solidFill>
                <a:latin typeface="Calibri" pitchFamily="34" charset="0"/>
                <a:ea typeface="Calibri" pitchFamily="34" charset="-122"/>
                <a:cs typeface="Calibri" pitchFamily="34" charset="-120"/>
              </a:rPr>
              <a:t>Own deals, own tasks, own targets.</a:t>
            </a:r>
            <a:endParaRPr lang="en-US" sz="1300" dirty="0"/>
          </a:p>
        </p:txBody>
      </p:sp>
      <p:sp>
        <p:nvSpPr>
          <p:cNvPr id="6" name="Shape 4"/>
          <p:cNvSpPr/>
          <p:nvPr/>
        </p:nvSpPr>
        <p:spPr>
          <a:xfrm>
            <a:off x="548640" y="1463040"/>
            <a:ext cx="3977640" cy="73152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48640" y="1463040"/>
            <a:ext cx="64008" cy="731520"/>
          </a:xfrm>
          <a:prstGeom prst="rect">
            <a:avLst/>
          </a:prstGeom>
          <a:solidFill>
            <a:srgbClr val="E87722"/>
          </a:solidFill>
          <a:ln w="12700">
            <a:solidFill>
              <a:srgbClr val="E87722"/>
            </a:solidFill>
            <a:prstDash val="solid"/>
          </a:ln>
        </p:spPr>
      </p:sp>
      <p:sp>
        <p:nvSpPr>
          <p:cNvPr id="8" name="Text 6"/>
          <p:cNvSpPr txBox="1"/>
          <p:nvPr/>
        </p:nvSpPr>
        <p:spPr>
          <a:xfrm>
            <a:off x="731520" y="1463040"/>
            <a:ext cx="3703320" cy="731520"/>
          </a:xfrm>
          <a:prstGeom prst="rect">
            <a:avLst/>
          </a:prstGeom>
          <a:noFill/>
          <a:ln/>
        </p:spPr>
        <p:txBody>
          <a:bodyPr wrap="square" lIns="0" tIns="0" rIns="0" bIns="0"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Personal dashboard</a:t>
            </a:r>
            <a:endParaRPr lang="en-US" sz="1250" dirty="0"/>
          </a:p>
          <a:p>
            <a:pPr indent="0" marL="0">
              <a:buNone/>
            </a:pPr>
            <a:r>
              <a:rPr lang="en-US" sz="1050" dirty="0">
                <a:solidFill>
                  <a:srgbClr val="6E6E73"/>
                </a:solidFill>
                <a:latin typeface="Calibri" pitchFamily="34" charset="0"/>
                <a:ea typeface="Calibri" pitchFamily="34" charset="-122"/>
                <a:cs typeface="Calibri" pitchFamily="34" charset="-120"/>
              </a:rPr>
              <a:t>Own deals, tasks and target progress on one screen.</a:t>
            </a:r>
            <a:endParaRPr lang="en-US" sz="1250" dirty="0"/>
          </a:p>
        </p:txBody>
      </p:sp>
      <p:sp>
        <p:nvSpPr>
          <p:cNvPr id="9" name="Shape 7"/>
          <p:cNvSpPr/>
          <p:nvPr/>
        </p:nvSpPr>
        <p:spPr>
          <a:xfrm>
            <a:off x="4709160" y="1463040"/>
            <a:ext cx="3977640" cy="73152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10" name="Shape 8"/>
          <p:cNvSpPr/>
          <p:nvPr/>
        </p:nvSpPr>
        <p:spPr>
          <a:xfrm>
            <a:off x="4709160" y="1463040"/>
            <a:ext cx="64008" cy="731520"/>
          </a:xfrm>
          <a:prstGeom prst="rect">
            <a:avLst/>
          </a:prstGeom>
          <a:solidFill>
            <a:srgbClr val="E87722"/>
          </a:solidFill>
          <a:ln w="12700">
            <a:solidFill>
              <a:srgbClr val="E87722"/>
            </a:solidFill>
            <a:prstDash val="solid"/>
          </a:ln>
        </p:spPr>
      </p:sp>
      <p:sp>
        <p:nvSpPr>
          <p:cNvPr id="11" name="Text 9"/>
          <p:cNvSpPr txBox="1"/>
          <p:nvPr/>
        </p:nvSpPr>
        <p:spPr>
          <a:xfrm>
            <a:off x="4892040" y="1463040"/>
            <a:ext cx="3703320" cy="731520"/>
          </a:xfrm>
          <a:prstGeom prst="rect">
            <a:avLst/>
          </a:prstGeom>
          <a:noFill/>
          <a:ln/>
        </p:spPr>
        <p:txBody>
          <a:bodyPr wrap="square" lIns="0" tIns="0" rIns="0" bIns="0"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Drag-and-drop pipeline</a:t>
            </a:r>
            <a:endParaRPr lang="en-US" sz="1250" dirty="0"/>
          </a:p>
          <a:p>
            <a:pPr indent="0" marL="0">
              <a:buNone/>
            </a:pPr>
            <a:r>
              <a:rPr lang="en-US" sz="1050" dirty="0">
                <a:solidFill>
                  <a:srgbClr val="6E6E73"/>
                </a:solidFill>
                <a:latin typeface="Calibri" pitchFamily="34" charset="0"/>
                <a:ea typeface="Calibri" pitchFamily="34" charset="-122"/>
                <a:cs typeface="Calibri" pitchFamily="34" charset="-120"/>
              </a:rPr>
              <a:t>Move deals through Discover, Identify, Next, Proposal and Closed.</a:t>
            </a:r>
            <a:endParaRPr lang="en-US" sz="1250" dirty="0"/>
          </a:p>
        </p:txBody>
      </p:sp>
      <p:sp>
        <p:nvSpPr>
          <p:cNvPr id="12" name="Shape 10"/>
          <p:cNvSpPr/>
          <p:nvPr/>
        </p:nvSpPr>
        <p:spPr>
          <a:xfrm>
            <a:off x="548640" y="2286000"/>
            <a:ext cx="3977640" cy="73152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13" name="Shape 11"/>
          <p:cNvSpPr/>
          <p:nvPr/>
        </p:nvSpPr>
        <p:spPr>
          <a:xfrm>
            <a:off x="548640" y="2286000"/>
            <a:ext cx="64008" cy="731520"/>
          </a:xfrm>
          <a:prstGeom prst="rect">
            <a:avLst/>
          </a:prstGeom>
          <a:solidFill>
            <a:srgbClr val="E87722"/>
          </a:solidFill>
          <a:ln w="12700">
            <a:solidFill>
              <a:srgbClr val="E87722"/>
            </a:solidFill>
            <a:prstDash val="solid"/>
          </a:ln>
        </p:spPr>
      </p:sp>
      <p:sp>
        <p:nvSpPr>
          <p:cNvPr id="14" name="Text 12"/>
          <p:cNvSpPr txBox="1"/>
          <p:nvPr/>
        </p:nvSpPr>
        <p:spPr>
          <a:xfrm>
            <a:off x="731520" y="2286000"/>
            <a:ext cx="3703320" cy="731520"/>
          </a:xfrm>
          <a:prstGeom prst="rect">
            <a:avLst/>
          </a:prstGeom>
          <a:noFill/>
          <a:ln/>
        </p:spPr>
        <p:txBody>
          <a:bodyPr wrap="square" lIns="0" tIns="0" rIns="0" bIns="0"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Stage view</a:t>
            </a:r>
            <a:endParaRPr lang="en-US" sz="1250" dirty="0"/>
          </a:p>
          <a:p>
            <a:pPr indent="0" marL="0">
              <a:buNone/>
            </a:pPr>
            <a:r>
              <a:rPr lang="en-US" sz="1050" dirty="0">
                <a:solidFill>
                  <a:srgbClr val="6E6E73"/>
                </a:solidFill>
                <a:latin typeface="Calibri" pitchFamily="34" charset="0"/>
                <a:ea typeface="Calibri" pitchFamily="34" charset="-122"/>
                <a:cs typeface="Calibri" pitchFamily="34" charset="-120"/>
              </a:rPr>
              <a:t>Tap any stage to see exactly which clients are in it.</a:t>
            </a:r>
            <a:endParaRPr lang="en-US" sz="1250" dirty="0"/>
          </a:p>
        </p:txBody>
      </p:sp>
      <p:sp>
        <p:nvSpPr>
          <p:cNvPr id="15" name="Shape 13"/>
          <p:cNvSpPr/>
          <p:nvPr/>
        </p:nvSpPr>
        <p:spPr>
          <a:xfrm>
            <a:off x="4709160" y="2286000"/>
            <a:ext cx="3977640" cy="73152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16" name="Shape 14"/>
          <p:cNvSpPr/>
          <p:nvPr/>
        </p:nvSpPr>
        <p:spPr>
          <a:xfrm>
            <a:off x="4709160" y="2286000"/>
            <a:ext cx="64008" cy="731520"/>
          </a:xfrm>
          <a:prstGeom prst="rect">
            <a:avLst/>
          </a:prstGeom>
          <a:solidFill>
            <a:srgbClr val="E87722"/>
          </a:solidFill>
          <a:ln w="12700">
            <a:solidFill>
              <a:srgbClr val="E87722"/>
            </a:solidFill>
            <a:prstDash val="solid"/>
          </a:ln>
        </p:spPr>
      </p:sp>
      <p:sp>
        <p:nvSpPr>
          <p:cNvPr id="17" name="Text 15"/>
          <p:cNvSpPr txBox="1"/>
          <p:nvPr/>
        </p:nvSpPr>
        <p:spPr>
          <a:xfrm>
            <a:off x="4892040" y="2286000"/>
            <a:ext cx="3703320" cy="731520"/>
          </a:xfrm>
          <a:prstGeom prst="rect">
            <a:avLst/>
          </a:prstGeom>
          <a:noFill/>
          <a:ln/>
        </p:spPr>
        <p:txBody>
          <a:bodyPr wrap="square" lIns="0" tIns="0" rIns="0" bIns="0"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Smart quotes</a:t>
            </a:r>
            <a:endParaRPr lang="en-US" sz="1250" dirty="0"/>
          </a:p>
          <a:p>
            <a:pPr indent="0" marL="0">
              <a:buNone/>
            </a:pPr>
            <a:r>
              <a:rPr lang="en-US" sz="1050" dirty="0">
                <a:solidFill>
                  <a:srgbClr val="6E6E73"/>
                </a:solidFill>
                <a:latin typeface="Calibri" pitchFamily="34" charset="0"/>
                <a:ea typeface="Calibri" pitchFamily="34" charset="-122"/>
                <a:cs typeface="Calibri" pitchFamily="34" charset="-120"/>
              </a:rPr>
              <a:t>One-time, monthly or annual pricing with live approval status.</a:t>
            </a:r>
            <a:endParaRPr lang="en-US" sz="1250" dirty="0"/>
          </a:p>
        </p:txBody>
      </p:sp>
      <p:sp>
        <p:nvSpPr>
          <p:cNvPr id="18" name="Shape 16"/>
          <p:cNvSpPr/>
          <p:nvPr/>
        </p:nvSpPr>
        <p:spPr>
          <a:xfrm>
            <a:off x="548640" y="3108960"/>
            <a:ext cx="3977640" cy="73152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19" name="Shape 17"/>
          <p:cNvSpPr/>
          <p:nvPr/>
        </p:nvSpPr>
        <p:spPr>
          <a:xfrm>
            <a:off x="548640" y="3108960"/>
            <a:ext cx="64008" cy="731520"/>
          </a:xfrm>
          <a:prstGeom prst="rect">
            <a:avLst/>
          </a:prstGeom>
          <a:solidFill>
            <a:srgbClr val="E87722"/>
          </a:solidFill>
          <a:ln w="12700">
            <a:solidFill>
              <a:srgbClr val="E87722"/>
            </a:solidFill>
            <a:prstDash val="solid"/>
          </a:ln>
        </p:spPr>
      </p:sp>
      <p:sp>
        <p:nvSpPr>
          <p:cNvPr id="20" name="Text 18"/>
          <p:cNvSpPr txBox="1"/>
          <p:nvPr/>
        </p:nvSpPr>
        <p:spPr>
          <a:xfrm>
            <a:off x="731520" y="3108960"/>
            <a:ext cx="3703320" cy="731520"/>
          </a:xfrm>
          <a:prstGeom prst="rect">
            <a:avLst/>
          </a:prstGeom>
          <a:noFill/>
          <a:ln/>
        </p:spPr>
        <p:txBody>
          <a:bodyPr wrap="square" lIns="0" tIns="0" rIns="0" bIns="0"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Call and meeting log</a:t>
            </a:r>
            <a:endParaRPr lang="en-US" sz="1250" dirty="0"/>
          </a:p>
          <a:p>
            <a:pPr indent="0" marL="0">
              <a:buNone/>
            </a:pPr>
            <a:r>
              <a:rPr lang="en-US" sz="1050" dirty="0">
                <a:solidFill>
                  <a:srgbClr val="6E6E73"/>
                </a:solidFill>
                <a:latin typeface="Calibri" pitchFamily="34" charset="0"/>
                <a:ea typeface="Calibri" pitchFamily="34" charset="-122"/>
                <a:cs typeface="Calibri" pitchFamily="34" charset="-120"/>
              </a:rPr>
              <a:t>Record outcomes and next steps; follow-ups are created for you.</a:t>
            </a:r>
            <a:endParaRPr lang="en-US" sz="1250" dirty="0"/>
          </a:p>
        </p:txBody>
      </p:sp>
      <p:sp>
        <p:nvSpPr>
          <p:cNvPr id="21" name="Shape 19"/>
          <p:cNvSpPr/>
          <p:nvPr/>
        </p:nvSpPr>
        <p:spPr>
          <a:xfrm>
            <a:off x="4709160" y="3108960"/>
            <a:ext cx="3977640" cy="73152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22" name="Shape 20"/>
          <p:cNvSpPr/>
          <p:nvPr/>
        </p:nvSpPr>
        <p:spPr>
          <a:xfrm>
            <a:off x="4709160" y="3108960"/>
            <a:ext cx="64008" cy="731520"/>
          </a:xfrm>
          <a:prstGeom prst="rect">
            <a:avLst/>
          </a:prstGeom>
          <a:solidFill>
            <a:srgbClr val="E87722"/>
          </a:solidFill>
          <a:ln w="12700">
            <a:solidFill>
              <a:srgbClr val="E87722"/>
            </a:solidFill>
            <a:prstDash val="solid"/>
          </a:ln>
        </p:spPr>
      </p:sp>
      <p:sp>
        <p:nvSpPr>
          <p:cNvPr id="23" name="Text 21"/>
          <p:cNvSpPr txBox="1"/>
          <p:nvPr/>
        </p:nvSpPr>
        <p:spPr>
          <a:xfrm>
            <a:off x="4892040" y="3108960"/>
            <a:ext cx="3703320" cy="731520"/>
          </a:xfrm>
          <a:prstGeom prst="rect">
            <a:avLst/>
          </a:prstGeom>
          <a:noFill/>
          <a:ln/>
        </p:spPr>
        <p:txBody>
          <a:bodyPr wrap="square" lIns="0" tIns="0" rIns="0" bIns="0"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Follow-up reminders</a:t>
            </a:r>
            <a:endParaRPr lang="en-US" sz="1250" dirty="0"/>
          </a:p>
          <a:p>
            <a:pPr indent="0" marL="0">
              <a:buNone/>
            </a:pPr>
            <a:r>
              <a:rPr lang="en-US" sz="1050" dirty="0">
                <a:solidFill>
                  <a:srgbClr val="6E6E73"/>
                </a:solidFill>
                <a:latin typeface="Calibri" pitchFamily="34" charset="0"/>
                <a:ea typeface="Calibri" pitchFamily="34" charset="-122"/>
                <a:cs typeface="Calibri" pitchFamily="34" charset="-120"/>
              </a:rPr>
              <a:t>Pick a date, get notified, snooze or complete in one tap.</a:t>
            </a:r>
            <a:endParaRPr lang="en-US" sz="1250" dirty="0"/>
          </a:p>
        </p:txBody>
      </p:sp>
      <p:sp>
        <p:nvSpPr>
          <p:cNvPr id="24" name="Shape 22"/>
          <p:cNvSpPr/>
          <p:nvPr/>
        </p:nvSpPr>
        <p:spPr>
          <a:xfrm>
            <a:off x="548640" y="3931920"/>
            <a:ext cx="3977640" cy="73152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25" name="Shape 23"/>
          <p:cNvSpPr/>
          <p:nvPr/>
        </p:nvSpPr>
        <p:spPr>
          <a:xfrm>
            <a:off x="548640" y="3931920"/>
            <a:ext cx="64008" cy="731520"/>
          </a:xfrm>
          <a:prstGeom prst="rect">
            <a:avLst/>
          </a:prstGeom>
          <a:solidFill>
            <a:srgbClr val="E87722"/>
          </a:solidFill>
          <a:ln w="12700">
            <a:solidFill>
              <a:srgbClr val="E87722"/>
            </a:solidFill>
            <a:prstDash val="solid"/>
          </a:ln>
        </p:spPr>
      </p:sp>
      <p:sp>
        <p:nvSpPr>
          <p:cNvPr id="26" name="Text 24"/>
          <p:cNvSpPr txBox="1"/>
          <p:nvPr/>
        </p:nvSpPr>
        <p:spPr>
          <a:xfrm>
            <a:off x="731520" y="3931920"/>
            <a:ext cx="3703320" cy="731520"/>
          </a:xfrm>
          <a:prstGeom prst="rect">
            <a:avLst/>
          </a:prstGeom>
          <a:noFill/>
          <a:ln/>
        </p:spPr>
        <p:txBody>
          <a:bodyPr wrap="square" lIns="0" tIns="0" rIns="0" bIns="0"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Email and WhatsApp templates</a:t>
            </a:r>
            <a:endParaRPr lang="en-US" sz="1250" dirty="0"/>
          </a:p>
          <a:p>
            <a:pPr indent="0" marL="0">
              <a:buNone/>
            </a:pPr>
            <a:r>
              <a:rPr lang="en-US" sz="1050" dirty="0">
                <a:solidFill>
                  <a:srgbClr val="6E6E73"/>
                </a:solidFill>
                <a:latin typeface="Calibri" pitchFamily="34" charset="0"/>
                <a:ea typeface="Calibri" pitchFamily="34" charset="-122"/>
                <a:cs typeface="Calibri" pitchFamily="34" charset="-120"/>
              </a:rPr>
              <a:t>Pre-filled messages for quotes, invoices and payment reminders.</a:t>
            </a:r>
            <a:endParaRPr lang="en-US" sz="1250" dirty="0"/>
          </a:p>
        </p:txBody>
      </p:sp>
      <p:sp>
        <p:nvSpPr>
          <p:cNvPr id="27" name="Shape 25"/>
          <p:cNvSpPr/>
          <p:nvPr/>
        </p:nvSpPr>
        <p:spPr>
          <a:xfrm>
            <a:off x="4709160" y="3931920"/>
            <a:ext cx="3977640" cy="73152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28" name="Shape 26"/>
          <p:cNvSpPr/>
          <p:nvPr/>
        </p:nvSpPr>
        <p:spPr>
          <a:xfrm>
            <a:off x="4709160" y="3931920"/>
            <a:ext cx="64008" cy="731520"/>
          </a:xfrm>
          <a:prstGeom prst="rect">
            <a:avLst/>
          </a:prstGeom>
          <a:solidFill>
            <a:srgbClr val="E87722"/>
          </a:solidFill>
          <a:ln w="12700">
            <a:solidFill>
              <a:srgbClr val="E87722"/>
            </a:solidFill>
            <a:prstDash val="solid"/>
          </a:ln>
        </p:spPr>
      </p:sp>
      <p:sp>
        <p:nvSpPr>
          <p:cNvPr id="29" name="Text 27"/>
          <p:cNvSpPr txBox="1"/>
          <p:nvPr/>
        </p:nvSpPr>
        <p:spPr>
          <a:xfrm>
            <a:off x="4892040" y="3931920"/>
            <a:ext cx="3703320" cy="731520"/>
          </a:xfrm>
          <a:prstGeom prst="rect">
            <a:avLst/>
          </a:prstGeom>
          <a:noFill/>
          <a:ln/>
        </p:spPr>
        <p:txBody>
          <a:bodyPr wrap="square" lIns="0" tIns="0" rIns="0" bIns="0"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Duplicate check</a:t>
            </a:r>
            <a:endParaRPr lang="en-US" sz="1250" dirty="0"/>
          </a:p>
          <a:p>
            <a:pPr indent="0" marL="0">
              <a:buNone/>
            </a:pPr>
            <a:r>
              <a:rPr lang="en-US" sz="1050" dirty="0">
                <a:solidFill>
                  <a:srgbClr val="6E6E73"/>
                </a:solidFill>
                <a:latin typeface="Calibri" pitchFamily="34" charset="0"/>
                <a:ea typeface="Calibri" pitchFamily="34" charset="-122"/>
                <a:cs typeface="Calibri" pitchFamily="34" charset="-120"/>
              </a:rPr>
              <a:t>A warning before creating a client that already exists.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5"/>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7722"/>
          </a:solidFill>
          <a:ln w="12700">
            <a:solidFill>
              <a:srgbClr val="E87722"/>
            </a:solidFill>
            <a:prstDash val="solid"/>
          </a:ln>
        </p:spPr>
      </p:sp>
      <p:sp>
        <p:nvSpPr>
          <p:cNvPr id="3" name="Text 1"/>
          <p:cNvSpPr txBox="1"/>
          <p:nvPr/>
        </p:nvSpPr>
        <p:spPr>
          <a:xfrm>
            <a:off x="548640" y="256032"/>
            <a:ext cx="3657600" cy="256032"/>
          </a:xfrm>
          <a:prstGeom prst="rect">
            <a:avLst/>
          </a:prstGeom>
          <a:noFill/>
          <a:ln/>
        </p:spPr>
        <p:txBody>
          <a:bodyPr wrap="square" lIns="0" tIns="0" rIns="0" bIns="0" rtlCol="0" anchor="ctr"/>
          <a:lstStyle/>
          <a:p>
            <a:pPr indent="0" marL="0">
              <a:buNone/>
            </a:pPr>
            <a:r>
              <a:rPr lang="en-US" sz="1100" b="1" spc="300" kern="0" dirty="0">
                <a:solidFill>
                  <a:srgbClr val="E87722"/>
                </a:solidFill>
                <a:latin typeface="Calibri" pitchFamily="34" charset="0"/>
                <a:ea typeface="Calibri" pitchFamily="34" charset="-122"/>
                <a:cs typeface="Calibri" pitchFamily="34" charset="-120"/>
              </a:rPr>
              <a:t>SALES REP · COMPLETE LIST</a:t>
            </a:r>
            <a:endParaRPr lang="en-US" sz="1100" dirty="0"/>
          </a:p>
        </p:txBody>
      </p:sp>
      <p:sp>
        <p:nvSpPr>
          <p:cNvPr id="4" name="Text 2"/>
          <p:cNvSpPr txBox="1"/>
          <p:nvPr/>
        </p:nvSpPr>
        <p:spPr>
          <a:xfrm>
            <a:off x="548640" y="502920"/>
            <a:ext cx="8046720" cy="548640"/>
          </a:xfrm>
          <a:prstGeom prst="rect">
            <a:avLst/>
          </a:prstGeom>
          <a:noFill/>
          <a:ln/>
        </p:spPr>
        <p:txBody>
          <a:bodyPr wrap="square" lIns="0" tIns="0" rIns="0" bIns="0" rtlCol="0" anchor="ctr"/>
          <a:lstStyle/>
          <a:p>
            <a:pPr indent="0" marL="0">
              <a:buNone/>
            </a:pPr>
            <a:r>
              <a:rPr lang="en-US" sz="2800" b="1" dirty="0">
                <a:solidFill>
                  <a:srgbClr val="1A1A2E"/>
                </a:solidFill>
                <a:latin typeface="Calibri" pitchFamily="34" charset="0"/>
                <a:ea typeface="Calibri" pitchFamily="34" charset="-122"/>
                <a:cs typeface="Calibri" pitchFamily="34" charset="-120"/>
              </a:rPr>
              <a:t>Everything a Sales Rep gets</a:t>
            </a:r>
            <a:endParaRPr lang="en-US" sz="2800" dirty="0"/>
          </a:p>
        </p:txBody>
      </p:sp>
      <p:sp>
        <p:nvSpPr>
          <p:cNvPr id="5" name="Shape 3"/>
          <p:cNvSpPr/>
          <p:nvPr/>
        </p:nvSpPr>
        <p:spPr>
          <a:xfrm>
            <a:off x="548640" y="1188720"/>
            <a:ext cx="2560320" cy="361188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6" name="Shape 4"/>
          <p:cNvSpPr/>
          <p:nvPr/>
        </p:nvSpPr>
        <p:spPr>
          <a:xfrm>
            <a:off x="548640" y="1188720"/>
            <a:ext cx="2560320" cy="64008"/>
          </a:xfrm>
          <a:prstGeom prst="rect">
            <a:avLst/>
          </a:prstGeom>
          <a:solidFill>
            <a:srgbClr val="E87722"/>
          </a:solidFill>
          <a:ln w="12700">
            <a:solidFill>
              <a:srgbClr val="E87722"/>
            </a:solidFill>
            <a:prstDash val="solid"/>
          </a:ln>
        </p:spPr>
      </p:sp>
      <p:sp>
        <p:nvSpPr>
          <p:cNvPr id="7" name="Text 5"/>
          <p:cNvSpPr txBox="1"/>
          <p:nvPr/>
        </p:nvSpPr>
        <p:spPr>
          <a:xfrm>
            <a:off x="731520" y="1325880"/>
            <a:ext cx="2194560" cy="320040"/>
          </a:xfrm>
          <a:prstGeom prst="rect">
            <a:avLst/>
          </a:prstGeom>
          <a:noFill/>
          <a:ln/>
        </p:spPr>
        <p:txBody>
          <a:bodyPr wrap="square" lIns="0" tIns="0" rIns="0" bIns="0" rtlCol="0" anchor="ctr"/>
          <a:lstStyle/>
          <a:p>
            <a:pPr indent="0" marL="0">
              <a:buNone/>
            </a:pPr>
            <a:r>
              <a:rPr lang="en-US" sz="1400" b="1" dirty="0">
                <a:solidFill>
                  <a:srgbClr val="D45F1A"/>
                </a:solidFill>
                <a:latin typeface="Calibri" pitchFamily="34" charset="0"/>
                <a:ea typeface="Calibri" pitchFamily="34" charset="-122"/>
                <a:cs typeface="Calibri" pitchFamily="34" charset="-120"/>
              </a:rPr>
              <a:t>Deals and pipeline</a:t>
            </a:r>
            <a:endParaRPr lang="en-US" sz="1400" dirty="0"/>
          </a:p>
        </p:txBody>
      </p:sp>
      <p:sp>
        <p:nvSpPr>
          <p:cNvPr id="8" name="Text 6"/>
          <p:cNvSpPr txBox="1"/>
          <p:nvPr/>
        </p:nvSpPr>
        <p:spPr>
          <a:xfrm>
            <a:off x="731520" y="1737360"/>
            <a:ext cx="2240280" cy="297180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Personal dashboard with target progress</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Drag-and-drop Kanban pipeline</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Stage view: click a stage to see its clients</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Create deals with GST, risk and target date</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Duplicate check on company name and GST</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Close as Won or Cancelled, with lost reason</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Searchable client list with contacts</a:t>
            </a:r>
            <a:endParaRPr lang="en-US" sz="1050" dirty="0"/>
          </a:p>
        </p:txBody>
      </p:sp>
      <p:sp>
        <p:nvSpPr>
          <p:cNvPr id="9" name="Shape 7"/>
          <p:cNvSpPr/>
          <p:nvPr/>
        </p:nvSpPr>
        <p:spPr>
          <a:xfrm>
            <a:off x="3337560" y="1188720"/>
            <a:ext cx="2560320" cy="361188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10" name="Shape 8"/>
          <p:cNvSpPr/>
          <p:nvPr/>
        </p:nvSpPr>
        <p:spPr>
          <a:xfrm>
            <a:off x="3337560" y="1188720"/>
            <a:ext cx="2560320" cy="64008"/>
          </a:xfrm>
          <a:prstGeom prst="rect">
            <a:avLst/>
          </a:prstGeom>
          <a:solidFill>
            <a:srgbClr val="E87722"/>
          </a:solidFill>
          <a:ln w="12700">
            <a:solidFill>
              <a:srgbClr val="E87722"/>
            </a:solidFill>
            <a:prstDash val="solid"/>
          </a:ln>
        </p:spPr>
      </p:sp>
      <p:sp>
        <p:nvSpPr>
          <p:cNvPr id="11" name="Text 9"/>
          <p:cNvSpPr txBox="1"/>
          <p:nvPr/>
        </p:nvSpPr>
        <p:spPr>
          <a:xfrm>
            <a:off x="3520440" y="1325880"/>
            <a:ext cx="2194560" cy="320040"/>
          </a:xfrm>
          <a:prstGeom prst="rect">
            <a:avLst/>
          </a:prstGeom>
          <a:noFill/>
          <a:ln/>
        </p:spPr>
        <p:txBody>
          <a:bodyPr wrap="square" lIns="0" tIns="0" rIns="0" bIns="0" rtlCol="0" anchor="ctr"/>
          <a:lstStyle/>
          <a:p>
            <a:pPr indent="0" marL="0">
              <a:buNone/>
            </a:pPr>
            <a:r>
              <a:rPr lang="en-US" sz="1400" b="1" dirty="0">
                <a:solidFill>
                  <a:srgbClr val="D45F1A"/>
                </a:solidFill>
                <a:latin typeface="Calibri" pitchFamily="34" charset="0"/>
                <a:ea typeface="Calibri" pitchFamily="34" charset="-122"/>
                <a:cs typeface="Calibri" pitchFamily="34" charset="-120"/>
              </a:rPr>
              <a:t>Quotes and finance</a:t>
            </a:r>
            <a:endParaRPr lang="en-US" sz="1400" dirty="0"/>
          </a:p>
        </p:txBody>
      </p:sp>
      <p:sp>
        <p:nvSpPr>
          <p:cNvPr id="12" name="Text 10"/>
          <p:cNvSpPr txBox="1"/>
          <p:nvPr/>
        </p:nvSpPr>
        <p:spPr>
          <a:xfrm>
            <a:off x="3520440" y="1737360"/>
            <a:ext cx="2240280" cy="297180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Multiple quote versions per deal</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One-time, monthly and annual billing</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Line-item discounts, live approval status</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Auto-approval within the allowed limit</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Final quote creates the payment schedule</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View invoices and payments for own deals</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Download invoices as PDF</a:t>
            </a:r>
            <a:endParaRPr lang="en-US" sz="1050" dirty="0"/>
          </a:p>
        </p:txBody>
      </p:sp>
      <p:sp>
        <p:nvSpPr>
          <p:cNvPr id="13" name="Shape 11"/>
          <p:cNvSpPr/>
          <p:nvPr/>
        </p:nvSpPr>
        <p:spPr>
          <a:xfrm>
            <a:off x="6126480" y="1188720"/>
            <a:ext cx="2560320" cy="361188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14" name="Shape 12"/>
          <p:cNvSpPr/>
          <p:nvPr/>
        </p:nvSpPr>
        <p:spPr>
          <a:xfrm>
            <a:off x="6126480" y="1188720"/>
            <a:ext cx="2560320" cy="64008"/>
          </a:xfrm>
          <a:prstGeom prst="rect">
            <a:avLst/>
          </a:prstGeom>
          <a:solidFill>
            <a:srgbClr val="E87722"/>
          </a:solidFill>
          <a:ln w="12700">
            <a:solidFill>
              <a:srgbClr val="E87722"/>
            </a:solidFill>
            <a:prstDash val="solid"/>
          </a:ln>
        </p:spPr>
      </p:sp>
      <p:sp>
        <p:nvSpPr>
          <p:cNvPr id="15" name="Text 13"/>
          <p:cNvSpPr txBox="1"/>
          <p:nvPr/>
        </p:nvSpPr>
        <p:spPr>
          <a:xfrm>
            <a:off x="6309360" y="1325880"/>
            <a:ext cx="2194560" cy="320040"/>
          </a:xfrm>
          <a:prstGeom prst="rect">
            <a:avLst/>
          </a:prstGeom>
          <a:noFill/>
          <a:ln/>
        </p:spPr>
        <p:txBody>
          <a:bodyPr wrap="square" lIns="0" tIns="0" rIns="0" bIns="0" rtlCol="0" anchor="ctr"/>
          <a:lstStyle/>
          <a:p>
            <a:pPr indent="0" marL="0">
              <a:buNone/>
            </a:pPr>
            <a:r>
              <a:rPr lang="en-US" sz="1400" b="1" dirty="0">
                <a:solidFill>
                  <a:srgbClr val="D45F1A"/>
                </a:solidFill>
                <a:latin typeface="Calibri" pitchFamily="34" charset="0"/>
                <a:ea typeface="Calibri" pitchFamily="34" charset="-122"/>
                <a:cs typeface="Calibri" pitchFamily="34" charset="-120"/>
              </a:rPr>
              <a:t>Engagement and productivity</a:t>
            </a:r>
            <a:endParaRPr lang="en-US" sz="1400" dirty="0"/>
          </a:p>
        </p:txBody>
      </p:sp>
      <p:sp>
        <p:nvSpPr>
          <p:cNvPr id="16" name="Text 14"/>
          <p:cNvSpPr txBox="1"/>
          <p:nvPr/>
        </p:nvSpPr>
        <p:spPr>
          <a:xfrm>
            <a:off x="6309360" y="1737360"/>
            <a:ext cx="2240280" cy="297180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Call and meeting log with outcomes</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Follow-up reminders with snooze</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Tasks: overdue, today, upcoming</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Email and WhatsApp templates</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Files, contacts and social accounts per client</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Activity timeline on every deal</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Notifications and a personal progress page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5"/>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7722"/>
          </a:solidFill>
          <a:ln w="12700">
            <a:solidFill>
              <a:srgbClr val="E87722"/>
            </a:solidFill>
            <a:prstDash val="solid"/>
          </a:ln>
        </p:spPr>
      </p:sp>
      <p:sp>
        <p:nvSpPr>
          <p:cNvPr id="3" name="Text 1"/>
          <p:cNvSpPr txBox="1"/>
          <p:nvPr/>
        </p:nvSpPr>
        <p:spPr>
          <a:xfrm>
            <a:off x="548640" y="256032"/>
            <a:ext cx="3657600" cy="256032"/>
          </a:xfrm>
          <a:prstGeom prst="rect">
            <a:avLst/>
          </a:prstGeom>
          <a:noFill/>
          <a:ln/>
        </p:spPr>
        <p:txBody>
          <a:bodyPr wrap="square" lIns="0" tIns="0" rIns="0" bIns="0" rtlCol="0" anchor="ctr"/>
          <a:lstStyle/>
          <a:p>
            <a:pPr indent="0" marL="0">
              <a:buNone/>
            </a:pPr>
            <a:r>
              <a:rPr lang="en-US" sz="1100" b="1" spc="300" kern="0" dirty="0">
                <a:solidFill>
                  <a:srgbClr val="E87722"/>
                </a:solidFill>
                <a:latin typeface="Calibri" pitchFamily="34" charset="0"/>
                <a:ea typeface="Calibri" pitchFamily="34" charset="-122"/>
                <a:cs typeface="Calibri" pitchFamily="34" charset="-120"/>
              </a:rPr>
              <a:t>ADMIN</a:t>
            </a:r>
            <a:endParaRPr lang="en-US" sz="1100" dirty="0"/>
          </a:p>
        </p:txBody>
      </p:sp>
      <p:sp>
        <p:nvSpPr>
          <p:cNvPr id="4" name="Text 2"/>
          <p:cNvSpPr txBox="1"/>
          <p:nvPr/>
        </p:nvSpPr>
        <p:spPr>
          <a:xfrm>
            <a:off x="548640" y="502920"/>
            <a:ext cx="8046720" cy="548640"/>
          </a:xfrm>
          <a:prstGeom prst="rect">
            <a:avLst/>
          </a:prstGeom>
          <a:noFill/>
          <a:ln/>
        </p:spPr>
        <p:txBody>
          <a:bodyPr wrap="square" lIns="0" tIns="0" rIns="0" bIns="0" rtlCol="0" anchor="ctr"/>
          <a:lstStyle/>
          <a:p>
            <a:pPr indent="0" marL="0">
              <a:buNone/>
            </a:pPr>
            <a:r>
              <a:rPr lang="en-US" sz="2800" b="1" dirty="0">
                <a:solidFill>
                  <a:srgbClr val="1A1A2E"/>
                </a:solidFill>
                <a:latin typeface="Calibri" pitchFamily="34" charset="0"/>
                <a:ea typeface="Calibri" pitchFamily="34" charset="-122"/>
                <a:cs typeface="Calibri" pitchFamily="34" charset="-120"/>
              </a:rPr>
              <a:t>Full control of day-to-day operations</a:t>
            </a:r>
            <a:endParaRPr lang="en-US" sz="2800" dirty="0"/>
          </a:p>
        </p:txBody>
      </p:sp>
      <p:sp>
        <p:nvSpPr>
          <p:cNvPr id="5" name="Text 3"/>
          <p:cNvSpPr txBox="1"/>
          <p:nvPr/>
        </p:nvSpPr>
        <p:spPr>
          <a:xfrm>
            <a:off x="548640" y="1024128"/>
            <a:ext cx="8046720" cy="274320"/>
          </a:xfrm>
          <a:prstGeom prst="rect">
            <a:avLst/>
          </a:prstGeom>
          <a:noFill/>
          <a:ln/>
        </p:spPr>
        <p:txBody>
          <a:bodyPr wrap="square" lIns="0" tIns="0" rIns="0" bIns="0" rtlCol="0" anchor="ctr"/>
          <a:lstStyle/>
          <a:p>
            <a:pPr indent="0" marL="0">
              <a:buNone/>
            </a:pPr>
            <a:r>
              <a:rPr lang="en-US" sz="1300" dirty="0">
                <a:solidFill>
                  <a:srgbClr val="6E6E73"/>
                </a:solidFill>
                <a:latin typeface="Calibri" pitchFamily="34" charset="0"/>
                <a:ea typeface="Calibri" pitchFamily="34" charset="-122"/>
                <a:cs typeface="Calibri" pitchFamily="34" charset="-120"/>
              </a:rPr>
              <a:t>Company-wide visibility, with the tools to act on it.</a:t>
            </a:r>
            <a:endParaRPr lang="en-US" sz="1300" dirty="0"/>
          </a:p>
        </p:txBody>
      </p:sp>
      <p:sp>
        <p:nvSpPr>
          <p:cNvPr id="6" name="Shape 4"/>
          <p:cNvSpPr/>
          <p:nvPr/>
        </p:nvSpPr>
        <p:spPr>
          <a:xfrm>
            <a:off x="548640" y="1463040"/>
            <a:ext cx="3977640" cy="73152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48640" y="1463040"/>
            <a:ext cx="64008" cy="731520"/>
          </a:xfrm>
          <a:prstGeom prst="rect">
            <a:avLst/>
          </a:prstGeom>
          <a:solidFill>
            <a:srgbClr val="E87722"/>
          </a:solidFill>
          <a:ln w="12700">
            <a:solidFill>
              <a:srgbClr val="E87722"/>
            </a:solidFill>
            <a:prstDash val="solid"/>
          </a:ln>
        </p:spPr>
      </p:sp>
      <p:sp>
        <p:nvSpPr>
          <p:cNvPr id="8" name="Text 6"/>
          <p:cNvSpPr txBox="1"/>
          <p:nvPr/>
        </p:nvSpPr>
        <p:spPr>
          <a:xfrm>
            <a:off x="731520" y="1463040"/>
            <a:ext cx="3703320" cy="731520"/>
          </a:xfrm>
          <a:prstGeom prst="rect">
            <a:avLst/>
          </a:prstGeom>
          <a:noFill/>
          <a:ln/>
        </p:spPr>
        <p:txBody>
          <a:bodyPr wrap="square" lIns="0" tIns="0" rIns="0" bIns="0"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Company dashboard</a:t>
            </a:r>
            <a:endParaRPr lang="en-US" sz="1250" dirty="0"/>
          </a:p>
          <a:p>
            <a:pPr indent="0" marL="0">
              <a:buNone/>
            </a:pPr>
            <a:r>
              <a:rPr lang="en-US" sz="1050" dirty="0">
                <a:solidFill>
                  <a:srgbClr val="6E6E73"/>
                </a:solidFill>
                <a:latin typeface="Calibri" pitchFamily="34" charset="0"/>
                <a:ea typeface="Calibri" pitchFamily="34" charset="-122"/>
                <a:cs typeface="Calibri" pitchFamily="34" charset="-120"/>
              </a:rPr>
              <a:t>Every deal, rep and task in one live overview.</a:t>
            </a:r>
            <a:endParaRPr lang="en-US" sz="1250" dirty="0"/>
          </a:p>
        </p:txBody>
      </p:sp>
      <p:sp>
        <p:nvSpPr>
          <p:cNvPr id="9" name="Shape 7"/>
          <p:cNvSpPr/>
          <p:nvPr/>
        </p:nvSpPr>
        <p:spPr>
          <a:xfrm>
            <a:off x="4709160" y="1463040"/>
            <a:ext cx="3977640" cy="73152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10" name="Shape 8"/>
          <p:cNvSpPr/>
          <p:nvPr/>
        </p:nvSpPr>
        <p:spPr>
          <a:xfrm>
            <a:off x="4709160" y="1463040"/>
            <a:ext cx="64008" cy="731520"/>
          </a:xfrm>
          <a:prstGeom prst="rect">
            <a:avLst/>
          </a:prstGeom>
          <a:solidFill>
            <a:srgbClr val="E87722"/>
          </a:solidFill>
          <a:ln w="12700">
            <a:solidFill>
              <a:srgbClr val="E87722"/>
            </a:solidFill>
            <a:prstDash val="solid"/>
          </a:ln>
        </p:spPr>
      </p:sp>
      <p:sp>
        <p:nvSpPr>
          <p:cNvPr id="11" name="Text 9"/>
          <p:cNvSpPr txBox="1"/>
          <p:nvPr/>
        </p:nvSpPr>
        <p:spPr>
          <a:xfrm>
            <a:off x="4892040" y="1463040"/>
            <a:ext cx="3703320" cy="731520"/>
          </a:xfrm>
          <a:prstGeom prst="rect">
            <a:avLst/>
          </a:prstGeom>
          <a:noFill/>
          <a:ln/>
        </p:spPr>
        <p:txBody>
          <a:bodyPr wrap="square" lIns="0" tIns="0" rIns="0" bIns="0"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Discount approvals</a:t>
            </a:r>
            <a:endParaRPr lang="en-US" sz="1250" dirty="0"/>
          </a:p>
          <a:p>
            <a:pPr indent="0" marL="0">
              <a:buNone/>
            </a:pPr>
            <a:r>
              <a:rPr lang="en-US" sz="1050" dirty="0">
                <a:solidFill>
                  <a:srgbClr val="6E6E73"/>
                </a:solidFill>
                <a:latin typeface="Calibri" pitchFamily="34" charset="0"/>
                <a:ea typeface="Calibri" pitchFamily="34" charset="-122"/>
                <a:cs typeface="Calibri" pitchFamily="34" charset="-120"/>
              </a:rPr>
              <a:t>Reviews mid-range discounts; larger ones go to the CEO.</a:t>
            </a:r>
            <a:endParaRPr lang="en-US" sz="1250" dirty="0"/>
          </a:p>
        </p:txBody>
      </p:sp>
      <p:sp>
        <p:nvSpPr>
          <p:cNvPr id="12" name="Shape 10"/>
          <p:cNvSpPr/>
          <p:nvPr/>
        </p:nvSpPr>
        <p:spPr>
          <a:xfrm>
            <a:off x="548640" y="2286000"/>
            <a:ext cx="3977640" cy="73152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13" name="Shape 11"/>
          <p:cNvSpPr/>
          <p:nvPr/>
        </p:nvSpPr>
        <p:spPr>
          <a:xfrm>
            <a:off x="548640" y="2286000"/>
            <a:ext cx="64008" cy="731520"/>
          </a:xfrm>
          <a:prstGeom prst="rect">
            <a:avLst/>
          </a:prstGeom>
          <a:solidFill>
            <a:srgbClr val="E87722"/>
          </a:solidFill>
          <a:ln w="12700">
            <a:solidFill>
              <a:srgbClr val="E87722"/>
            </a:solidFill>
            <a:prstDash val="solid"/>
          </a:ln>
        </p:spPr>
      </p:sp>
      <p:sp>
        <p:nvSpPr>
          <p:cNvPr id="14" name="Text 12"/>
          <p:cNvSpPr txBox="1"/>
          <p:nvPr/>
        </p:nvSpPr>
        <p:spPr>
          <a:xfrm>
            <a:off x="731520" y="2286000"/>
            <a:ext cx="3703320" cy="731520"/>
          </a:xfrm>
          <a:prstGeom prst="rect">
            <a:avLst/>
          </a:prstGeom>
          <a:noFill/>
          <a:ln/>
        </p:spPr>
        <p:txBody>
          <a:bodyPr wrap="square" lIns="0" tIns="0" rIns="0" bIns="0"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Invoicing</a:t>
            </a:r>
            <a:endParaRPr lang="en-US" sz="1250" dirty="0"/>
          </a:p>
          <a:p>
            <a:pPr indent="0" marL="0">
              <a:buNone/>
            </a:pPr>
            <a:r>
              <a:rPr lang="en-US" sz="1050" dirty="0">
                <a:solidFill>
                  <a:srgbClr val="6E6E73"/>
                </a:solidFill>
                <a:latin typeface="Calibri" pitchFamily="34" charset="0"/>
                <a:ea typeface="Calibri" pitchFamily="34" charset="-122"/>
                <a:cs typeface="Calibri" pitchFamily="34" charset="-120"/>
              </a:rPr>
              <a:t>Creates invoices from final quotes and marks them paid.</a:t>
            </a:r>
            <a:endParaRPr lang="en-US" sz="1250" dirty="0"/>
          </a:p>
        </p:txBody>
      </p:sp>
      <p:sp>
        <p:nvSpPr>
          <p:cNvPr id="15" name="Shape 13"/>
          <p:cNvSpPr/>
          <p:nvPr/>
        </p:nvSpPr>
        <p:spPr>
          <a:xfrm>
            <a:off x="4709160" y="2286000"/>
            <a:ext cx="3977640" cy="73152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16" name="Shape 14"/>
          <p:cNvSpPr/>
          <p:nvPr/>
        </p:nvSpPr>
        <p:spPr>
          <a:xfrm>
            <a:off x="4709160" y="2286000"/>
            <a:ext cx="64008" cy="731520"/>
          </a:xfrm>
          <a:prstGeom prst="rect">
            <a:avLst/>
          </a:prstGeom>
          <a:solidFill>
            <a:srgbClr val="E87722"/>
          </a:solidFill>
          <a:ln w="12700">
            <a:solidFill>
              <a:srgbClr val="E87722"/>
            </a:solidFill>
            <a:prstDash val="solid"/>
          </a:ln>
        </p:spPr>
      </p:sp>
      <p:sp>
        <p:nvSpPr>
          <p:cNvPr id="17" name="Text 15"/>
          <p:cNvSpPr txBox="1"/>
          <p:nvPr/>
        </p:nvSpPr>
        <p:spPr>
          <a:xfrm>
            <a:off x="4892040" y="2286000"/>
            <a:ext cx="3703320" cy="731520"/>
          </a:xfrm>
          <a:prstGeom prst="rect">
            <a:avLst/>
          </a:prstGeom>
          <a:noFill/>
          <a:ln/>
        </p:spPr>
        <p:txBody>
          <a:bodyPr wrap="square" lIns="0" tIns="0" rIns="0" bIns="0"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Payment tracking</a:t>
            </a:r>
            <a:endParaRPr lang="en-US" sz="1250" dirty="0"/>
          </a:p>
          <a:p>
            <a:pPr indent="0" marL="0">
              <a:buNone/>
            </a:pPr>
            <a:r>
              <a:rPr lang="en-US" sz="1050" dirty="0">
                <a:solidFill>
                  <a:srgbClr val="6E6E73"/>
                </a:solidFill>
                <a:latin typeface="Calibri" pitchFamily="34" charset="0"/>
                <a:ea typeface="Calibri" pitchFamily="34" charset="-122"/>
                <a:cs typeface="Calibri" pitchFamily="34" charset="-120"/>
              </a:rPr>
              <a:t>Automatic schedules with reminders before each due date.</a:t>
            </a:r>
            <a:endParaRPr lang="en-US" sz="1250" dirty="0"/>
          </a:p>
        </p:txBody>
      </p:sp>
      <p:sp>
        <p:nvSpPr>
          <p:cNvPr id="18" name="Shape 16"/>
          <p:cNvSpPr/>
          <p:nvPr/>
        </p:nvSpPr>
        <p:spPr>
          <a:xfrm>
            <a:off x="548640" y="3108960"/>
            <a:ext cx="3977640" cy="73152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19" name="Shape 17"/>
          <p:cNvSpPr/>
          <p:nvPr/>
        </p:nvSpPr>
        <p:spPr>
          <a:xfrm>
            <a:off x="548640" y="3108960"/>
            <a:ext cx="64008" cy="731520"/>
          </a:xfrm>
          <a:prstGeom prst="rect">
            <a:avLst/>
          </a:prstGeom>
          <a:solidFill>
            <a:srgbClr val="E87722"/>
          </a:solidFill>
          <a:ln w="12700">
            <a:solidFill>
              <a:srgbClr val="E87722"/>
            </a:solidFill>
            <a:prstDash val="solid"/>
          </a:ln>
        </p:spPr>
      </p:sp>
      <p:sp>
        <p:nvSpPr>
          <p:cNvPr id="20" name="Text 18"/>
          <p:cNvSpPr txBox="1"/>
          <p:nvPr/>
        </p:nvSpPr>
        <p:spPr>
          <a:xfrm>
            <a:off x="731520" y="3108960"/>
            <a:ext cx="3703320" cy="731520"/>
          </a:xfrm>
          <a:prstGeom prst="rect">
            <a:avLst/>
          </a:prstGeom>
          <a:noFill/>
          <a:ln/>
        </p:spPr>
        <p:txBody>
          <a:bodyPr wrap="square" lIns="0" tIns="0" rIns="0" bIns="0"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Team management</a:t>
            </a:r>
            <a:endParaRPr lang="en-US" sz="1250" dirty="0"/>
          </a:p>
          <a:p>
            <a:pPr indent="0" marL="0">
              <a:buNone/>
            </a:pPr>
            <a:r>
              <a:rPr lang="en-US" sz="1050" dirty="0">
                <a:solidFill>
                  <a:srgbClr val="6E6E73"/>
                </a:solidFill>
                <a:latin typeface="Calibri" pitchFamily="34" charset="0"/>
                <a:ea typeface="Calibri" pitchFamily="34" charset="-122"/>
                <a:cs typeface="Calibri" pitchFamily="34" charset="-120"/>
              </a:rPr>
              <a:t>Create rep accounts, set targets, open any rep’s profile.</a:t>
            </a:r>
            <a:endParaRPr lang="en-US" sz="1250" dirty="0"/>
          </a:p>
        </p:txBody>
      </p:sp>
      <p:sp>
        <p:nvSpPr>
          <p:cNvPr id="21" name="Shape 19"/>
          <p:cNvSpPr/>
          <p:nvPr/>
        </p:nvSpPr>
        <p:spPr>
          <a:xfrm>
            <a:off x="4709160" y="3108960"/>
            <a:ext cx="3977640" cy="73152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22" name="Shape 20"/>
          <p:cNvSpPr/>
          <p:nvPr/>
        </p:nvSpPr>
        <p:spPr>
          <a:xfrm>
            <a:off x="4709160" y="3108960"/>
            <a:ext cx="64008" cy="731520"/>
          </a:xfrm>
          <a:prstGeom prst="rect">
            <a:avLst/>
          </a:prstGeom>
          <a:solidFill>
            <a:srgbClr val="E87722"/>
          </a:solidFill>
          <a:ln w="12700">
            <a:solidFill>
              <a:srgbClr val="E87722"/>
            </a:solidFill>
            <a:prstDash val="solid"/>
          </a:ln>
        </p:spPr>
      </p:sp>
      <p:sp>
        <p:nvSpPr>
          <p:cNvPr id="23" name="Text 21"/>
          <p:cNvSpPr txBox="1"/>
          <p:nvPr/>
        </p:nvSpPr>
        <p:spPr>
          <a:xfrm>
            <a:off x="4892040" y="3108960"/>
            <a:ext cx="3703320" cy="731520"/>
          </a:xfrm>
          <a:prstGeom prst="rect">
            <a:avLst/>
          </a:prstGeom>
          <a:noFill/>
          <a:ln/>
        </p:spPr>
        <p:txBody>
          <a:bodyPr wrap="square" lIns="0" tIns="0" rIns="0" bIns="0"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Reports and export</a:t>
            </a:r>
            <a:endParaRPr lang="en-US" sz="1250" dirty="0"/>
          </a:p>
          <a:p>
            <a:pPr indent="0" marL="0">
              <a:buNone/>
            </a:pPr>
            <a:r>
              <a:rPr lang="en-US" sz="1050" dirty="0">
                <a:solidFill>
                  <a:srgbClr val="6E6E73"/>
                </a:solidFill>
                <a:latin typeface="Calibri" pitchFamily="34" charset="0"/>
                <a:ea typeface="Calibri" pitchFamily="34" charset="-122"/>
                <a:cs typeface="Calibri" pitchFamily="34" charset="-120"/>
              </a:rPr>
              <a:t>Pipeline by rep, discounts, lost reasons, calls, CSV export.</a:t>
            </a:r>
            <a:endParaRPr lang="en-US" sz="1250" dirty="0"/>
          </a:p>
        </p:txBody>
      </p:sp>
      <p:sp>
        <p:nvSpPr>
          <p:cNvPr id="24" name="Shape 22"/>
          <p:cNvSpPr/>
          <p:nvPr/>
        </p:nvSpPr>
        <p:spPr>
          <a:xfrm>
            <a:off x="548640" y="3931920"/>
            <a:ext cx="3977640" cy="73152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25" name="Shape 23"/>
          <p:cNvSpPr/>
          <p:nvPr/>
        </p:nvSpPr>
        <p:spPr>
          <a:xfrm>
            <a:off x="548640" y="3931920"/>
            <a:ext cx="64008" cy="731520"/>
          </a:xfrm>
          <a:prstGeom prst="rect">
            <a:avLst/>
          </a:prstGeom>
          <a:solidFill>
            <a:srgbClr val="E87722"/>
          </a:solidFill>
          <a:ln w="12700">
            <a:solidFill>
              <a:srgbClr val="E87722"/>
            </a:solidFill>
            <a:prstDash val="solid"/>
          </a:ln>
        </p:spPr>
      </p:sp>
      <p:sp>
        <p:nvSpPr>
          <p:cNvPr id="26" name="Text 24"/>
          <p:cNvSpPr txBox="1"/>
          <p:nvPr/>
        </p:nvSpPr>
        <p:spPr>
          <a:xfrm>
            <a:off x="731520" y="3931920"/>
            <a:ext cx="3703320" cy="731520"/>
          </a:xfrm>
          <a:prstGeom prst="rect">
            <a:avLst/>
          </a:prstGeom>
          <a:noFill/>
          <a:ln/>
        </p:spPr>
        <p:txBody>
          <a:bodyPr wrap="square" lIns="0" tIns="0" rIns="0" bIns="0"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Audit log</a:t>
            </a:r>
            <a:endParaRPr lang="en-US" sz="1250" dirty="0"/>
          </a:p>
          <a:p>
            <a:pPr indent="0" marL="0">
              <a:buNone/>
            </a:pPr>
            <a:r>
              <a:rPr lang="en-US" sz="1050" dirty="0">
                <a:solidFill>
                  <a:srgbClr val="6E6E73"/>
                </a:solidFill>
                <a:latin typeface="Calibri" pitchFamily="34" charset="0"/>
                <a:ea typeface="Calibri" pitchFamily="34" charset="-122"/>
                <a:cs typeface="Calibri" pitchFamily="34" charset="-120"/>
              </a:rPr>
              <a:t>Who did what and when. Filter by user, date or category.</a:t>
            </a:r>
            <a:endParaRPr lang="en-US" sz="1250" dirty="0"/>
          </a:p>
        </p:txBody>
      </p:sp>
      <p:sp>
        <p:nvSpPr>
          <p:cNvPr id="27" name="Shape 25"/>
          <p:cNvSpPr/>
          <p:nvPr/>
        </p:nvSpPr>
        <p:spPr>
          <a:xfrm>
            <a:off x="4709160" y="3931920"/>
            <a:ext cx="3977640" cy="73152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28" name="Shape 26"/>
          <p:cNvSpPr/>
          <p:nvPr/>
        </p:nvSpPr>
        <p:spPr>
          <a:xfrm>
            <a:off x="4709160" y="3931920"/>
            <a:ext cx="64008" cy="731520"/>
          </a:xfrm>
          <a:prstGeom prst="rect">
            <a:avLst/>
          </a:prstGeom>
          <a:solidFill>
            <a:srgbClr val="E87722"/>
          </a:solidFill>
          <a:ln w="12700">
            <a:solidFill>
              <a:srgbClr val="E87722"/>
            </a:solidFill>
            <a:prstDash val="solid"/>
          </a:ln>
        </p:spPr>
      </p:sp>
      <p:sp>
        <p:nvSpPr>
          <p:cNvPr id="29" name="Text 27"/>
          <p:cNvSpPr txBox="1"/>
          <p:nvPr/>
        </p:nvSpPr>
        <p:spPr>
          <a:xfrm>
            <a:off x="4892040" y="3931920"/>
            <a:ext cx="3703320" cy="731520"/>
          </a:xfrm>
          <a:prstGeom prst="rect">
            <a:avLst/>
          </a:prstGeom>
          <a:noFill/>
          <a:ln/>
        </p:spPr>
        <p:txBody>
          <a:bodyPr wrap="square" lIns="0" tIns="0" rIns="0" bIns="0"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Settings and catalogue</a:t>
            </a:r>
            <a:endParaRPr lang="en-US" sz="1250" dirty="0"/>
          </a:p>
          <a:p>
            <a:pPr indent="0" marL="0">
              <a:buNone/>
            </a:pPr>
            <a:r>
              <a:rPr lang="en-US" sz="1050" dirty="0">
                <a:solidFill>
                  <a:srgbClr val="6E6E73"/>
                </a:solidFill>
                <a:latin typeface="Calibri" pitchFamily="34" charset="0"/>
                <a:ea typeface="Calibri" pitchFamily="34" charset="-122"/>
                <a:cs typeface="Calibri" pitchFamily="34" charset="-120"/>
              </a:rPr>
              <a:t>Approval limits, product prices and reminder timing.</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5"/>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7722"/>
          </a:solidFill>
          <a:ln w="12700">
            <a:solidFill>
              <a:srgbClr val="E87722"/>
            </a:solidFill>
            <a:prstDash val="solid"/>
          </a:ln>
        </p:spPr>
      </p:sp>
      <p:sp>
        <p:nvSpPr>
          <p:cNvPr id="3" name="Text 1"/>
          <p:cNvSpPr txBox="1"/>
          <p:nvPr/>
        </p:nvSpPr>
        <p:spPr>
          <a:xfrm>
            <a:off x="548640" y="256032"/>
            <a:ext cx="3657600" cy="256032"/>
          </a:xfrm>
          <a:prstGeom prst="rect">
            <a:avLst/>
          </a:prstGeom>
          <a:noFill/>
          <a:ln/>
        </p:spPr>
        <p:txBody>
          <a:bodyPr wrap="square" lIns="0" tIns="0" rIns="0" bIns="0" rtlCol="0" anchor="ctr"/>
          <a:lstStyle/>
          <a:p>
            <a:pPr indent="0" marL="0">
              <a:buNone/>
            </a:pPr>
            <a:r>
              <a:rPr lang="en-US" sz="1100" b="1" spc="300" kern="0" dirty="0">
                <a:solidFill>
                  <a:srgbClr val="E87722"/>
                </a:solidFill>
                <a:latin typeface="Calibri" pitchFamily="34" charset="0"/>
                <a:ea typeface="Calibri" pitchFamily="34" charset="-122"/>
                <a:cs typeface="Calibri" pitchFamily="34" charset="-120"/>
              </a:rPr>
              <a:t>ADMIN · COMPLETE LIST</a:t>
            </a:r>
            <a:endParaRPr lang="en-US" sz="1100" dirty="0"/>
          </a:p>
        </p:txBody>
      </p:sp>
      <p:sp>
        <p:nvSpPr>
          <p:cNvPr id="4" name="Text 2"/>
          <p:cNvSpPr txBox="1"/>
          <p:nvPr/>
        </p:nvSpPr>
        <p:spPr>
          <a:xfrm>
            <a:off x="548640" y="502920"/>
            <a:ext cx="8046720" cy="548640"/>
          </a:xfrm>
          <a:prstGeom prst="rect">
            <a:avLst/>
          </a:prstGeom>
          <a:noFill/>
          <a:ln/>
        </p:spPr>
        <p:txBody>
          <a:bodyPr wrap="square" lIns="0" tIns="0" rIns="0" bIns="0" rtlCol="0" anchor="ctr"/>
          <a:lstStyle/>
          <a:p>
            <a:pPr indent="0" marL="0">
              <a:buNone/>
            </a:pPr>
            <a:r>
              <a:rPr lang="en-US" sz="2800" b="1" dirty="0">
                <a:solidFill>
                  <a:srgbClr val="1A1A2E"/>
                </a:solidFill>
                <a:latin typeface="Calibri" pitchFamily="34" charset="0"/>
                <a:ea typeface="Calibri" pitchFamily="34" charset="-122"/>
                <a:cs typeface="Calibri" pitchFamily="34" charset="-120"/>
              </a:rPr>
              <a:t>Everything an Admin gets</a:t>
            </a:r>
            <a:endParaRPr lang="en-US" sz="2800" dirty="0"/>
          </a:p>
        </p:txBody>
      </p:sp>
      <p:sp>
        <p:nvSpPr>
          <p:cNvPr id="5" name="Shape 3"/>
          <p:cNvSpPr/>
          <p:nvPr/>
        </p:nvSpPr>
        <p:spPr>
          <a:xfrm>
            <a:off x="548640" y="1188720"/>
            <a:ext cx="2560320" cy="361188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6" name="Shape 4"/>
          <p:cNvSpPr/>
          <p:nvPr/>
        </p:nvSpPr>
        <p:spPr>
          <a:xfrm>
            <a:off x="548640" y="1188720"/>
            <a:ext cx="2560320" cy="64008"/>
          </a:xfrm>
          <a:prstGeom prst="rect">
            <a:avLst/>
          </a:prstGeom>
          <a:solidFill>
            <a:srgbClr val="E87722"/>
          </a:solidFill>
          <a:ln w="12700">
            <a:solidFill>
              <a:srgbClr val="E87722"/>
            </a:solidFill>
            <a:prstDash val="solid"/>
          </a:ln>
        </p:spPr>
      </p:sp>
      <p:sp>
        <p:nvSpPr>
          <p:cNvPr id="7" name="Text 5"/>
          <p:cNvSpPr txBox="1"/>
          <p:nvPr/>
        </p:nvSpPr>
        <p:spPr>
          <a:xfrm>
            <a:off x="731520" y="1325880"/>
            <a:ext cx="2194560" cy="320040"/>
          </a:xfrm>
          <a:prstGeom prst="rect">
            <a:avLst/>
          </a:prstGeom>
          <a:noFill/>
          <a:ln/>
        </p:spPr>
        <p:txBody>
          <a:bodyPr wrap="square" lIns="0" tIns="0" rIns="0" bIns="0" rtlCol="0" anchor="ctr"/>
          <a:lstStyle/>
          <a:p>
            <a:pPr indent="0" marL="0">
              <a:buNone/>
            </a:pPr>
            <a:r>
              <a:rPr lang="en-US" sz="1400" b="1" dirty="0">
                <a:solidFill>
                  <a:srgbClr val="D45F1A"/>
                </a:solidFill>
                <a:latin typeface="Calibri" pitchFamily="34" charset="0"/>
                <a:ea typeface="Calibri" pitchFamily="34" charset="-122"/>
                <a:cs typeface="Calibri" pitchFamily="34" charset="-120"/>
              </a:rPr>
              <a:t>Oversight and deals</a:t>
            </a:r>
            <a:endParaRPr lang="en-US" sz="1400" dirty="0"/>
          </a:p>
        </p:txBody>
      </p:sp>
      <p:sp>
        <p:nvSpPr>
          <p:cNvPr id="8" name="Text 6"/>
          <p:cNvSpPr txBox="1"/>
          <p:nvPr/>
        </p:nvSpPr>
        <p:spPr>
          <a:xfrm>
            <a:off x="731520" y="1737360"/>
            <a:ext cx="2240280" cy="297180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Company dashboard and rep leaderboard</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All pipelines and stages, filter by rep</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Create deals and assign them to any rep</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Clients, tasks and calls across the team</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All rep tools on any deal: quotes, call log, reminders, templates</a:t>
            </a:r>
            <a:endParaRPr lang="en-US" sz="1050" dirty="0"/>
          </a:p>
        </p:txBody>
      </p:sp>
      <p:sp>
        <p:nvSpPr>
          <p:cNvPr id="9" name="Shape 7"/>
          <p:cNvSpPr/>
          <p:nvPr/>
        </p:nvSpPr>
        <p:spPr>
          <a:xfrm>
            <a:off x="3337560" y="1188720"/>
            <a:ext cx="2560320" cy="361188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10" name="Shape 8"/>
          <p:cNvSpPr/>
          <p:nvPr/>
        </p:nvSpPr>
        <p:spPr>
          <a:xfrm>
            <a:off x="3337560" y="1188720"/>
            <a:ext cx="2560320" cy="64008"/>
          </a:xfrm>
          <a:prstGeom prst="rect">
            <a:avLst/>
          </a:prstGeom>
          <a:solidFill>
            <a:srgbClr val="E87722"/>
          </a:solidFill>
          <a:ln w="12700">
            <a:solidFill>
              <a:srgbClr val="E87722"/>
            </a:solidFill>
            <a:prstDash val="solid"/>
          </a:ln>
        </p:spPr>
      </p:sp>
      <p:sp>
        <p:nvSpPr>
          <p:cNvPr id="11" name="Text 9"/>
          <p:cNvSpPr txBox="1"/>
          <p:nvPr/>
        </p:nvSpPr>
        <p:spPr>
          <a:xfrm>
            <a:off x="3520440" y="1325880"/>
            <a:ext cx="2194560" cy="320040"/>
          </a:xfrm>
          <a:prstGeom prst="rect">
            <a:avLst/>
          </a:prstGeom>
          <a:noFill/>
          <a:ln/>
        </p:spPr>
        <p:txBody>
          <a:bodyPr wrap="square" lIns="0" tIns="0" rIns="0" bIns="0" rtlCol="0" anchor="ctr"/>
          <a:lstStyle/>
          <a:p>
            <a:pPr indent="0" marL="0">
              <a:buNone/>
            </a:pPr>
            <a:r>
              <a:rPr lang="en-US" sz="1400" b="1" dirty="0">
                <a:solidFill>
                  <a:srgbClr val="D45F1A"/>
                </a:solidFill>
                <a:latin typeface="Calibri" pitchFamily="34" charset="0"/>
                <a:ea typeface="Calibri" pitchFamily="34" charset="-122"/>
                <a:cs typeface="Calibri" pitchFamily="34" charset="-120"/>
              </a:rPr>
              <a:t>Approvals and finance</a:t>
            </a:r>
            <a:endParaRPr lang="en-US" sz="1400" dirty="0"/>
          </a:p>
        </p:txBody>
      </p:sp>
      <p:sp>
        <p:nvSpPr>
          <p:cNvPr id="12" name="Text 10"/>
          <p:cNvSpPr txBox="1"/>
          <p:nvPr/>
        </p:nvSpPr>
        <p:spPr>
          <a:xfrm>
            <a:off x="3520440" y="1737360"/>
            <a:ext cx="2240280" cy="297180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Approves discounts up to the Admin limit</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Escalates larger discounts to the CEO</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Creates invoices from final quotes</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Marks invoices and payments as paid</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Schedules for monthly and annual plans</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Automatic payment reminders</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PDF invoices</a:t>
            </a:r>
            <a:endParaRPr lang="en-US" sz="1050" dirty="0"/>
          </a:p>
        </p:txBody>
      </p:sp>
      <p:sp>
        <p:nvSpPr>
          <p:cNvPr id="13" name="Shape 11"/>
          <p:cNvSpPr/>
          <p:nvPr/>
        </p:nvSpPr>
        <p:spPr>
          <a:xfrm>
            <a:off x="6126480" y="1188720"/>
            <a:ext cx="2560320" cy="361188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14" name="Shape 12"/>
          <p:cNvSpPr/>
          <p:nvPr/>
        </p:nvSpPr>
        <p:spPr>
          <a:xfrm>
            <a:off x="6126480" y="1188720"/>
            <a:ext cx="2560320" cy="64008"/>
          </a:xfrm>
          <a:prstGeom prst="rect">
            <a:avLst/>
          </a:prstGeom>
          <a:solidFill>
            <a:srgbClr val="E87722"/>
          </a:solidFill>
          <a:ln w="12700">
            <a:solidFill>
              <a:srgbClr val="E87722"/>
            </a:solidFill>
            <a:prstDash val="solid"/>
          </a:ln>
        </p:spPr>
      </p:sp>
      <p:sp>
        <p:nvSpPr>
          <p:cNvPr id="15" name="Text 13"/>
          <p:cNvSpPr txBox="1"/>
          <p:nvPr/>
        </p:nvSpPr>
        <p:spPr>
          <a:xfrm>
            <a:off x="6309360" y="1325880"/>
            <a:ext cx="2194560" cy="320040"/>
          </a:xfrm>
          <a:prstGeom prst="rect">
            <a:avLst/>
          </a:prstGeom>
          <a:noFill/>
          <a:ln/>
        </p:spPr>
        <p:txBody>
          <a:bodyPr wrap="square" lIns="0" tIns="0" rIns="0" bIns="0" rtlCol="0" anchor="ctr"/>
          <a:lstStyle/>
          <a:p>
            <a:pPr indent="0" marL="0">
              <a:buNone/>
            </a:pPr>
            <a:r>
              <a:rPr lang="en-US" sz="1400" b="1" dirty="0">
                <a:solidFill>
                  <a:srgbClr val="D45F1A"/>
                </a:solidFill>
                <a:latin typeface="Calibri" pitchFamily="34" charset="0"/>
                <a:ea typeface="Calibri" pitchFamily="34" charset="-122"/>
                <a:cs typeface="Calibri" pitchFamily="34" charset="-120"/>
              </a:rPr>
              <a:t>Team and governance</a:t>
            </a:r>
            <a:endParaRPr lang="en-US" sz="1400" dirty="0"/>
          </a:p>
        </p:txBody>
      </p:sp>
      <p:sp>
        <p:nvSpPr>
          <p:cNvPr id="16" name="Text 14"/>
          <p:cNvSpPr txBox="1"/>
          <p:nvPr/>
        </p:nvSpPr>
        <p:spPr>
          <a:xfrm>
            <a:off x="6309360" y="1737360"/>
            <a:ext cx="2240280" cy="297180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Create rep accounts and set targets</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Full rep profiles: deals, calls, tasks, activity</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Reports: pipeline, discounts, win rate, lost reasons</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Calls and meetings by rep, duplicate clients</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CSV export</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Audit log with filters and export</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Settings: limits, products, reminders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5"/>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7722"/>
          </a:solidFill>
          <a:ln w="12700">
            <a:solidFill>
              <a:srgbClr val="E87722"/>
            </a:solidFill>
            <a:prstDash val="solid"/>
          </a:ln>
        </p:spPr>
      </p:sp>
      <p:sp>
        <p:nvSpPr>
          <p:cNvPr id="3" name="Text 1"/>
          <p:cNvSpPr txBox="1"/>
          <p:nvPr/>
        </p:nvSpPr>
        <p:spPr>
          <a:xfrm>
            <a:off x="548640" y="256032"/>
            <a:ext cx="3657600" cy="256032"/>
          </a:xfrm>
          <a:prstGeom prst="rect">
            <a:avLst/>
          </a:prstGeom>
          <a:noFill/>
          <a:ln/>
        </p:spPr>
        <p:txBody>
          <a:bodyPr wrap="square" lIns="0" tIns="0" rIns="0" bIns="0" rtlCol="0" anchor="ctr"/>
          <a:lstStyle/>
          <a:p>
            <a:pPr indent="0" marL="0">
              <a:buNone/>
            </a:pPr>
            <a:r>
              <a:rPr lang="en-US" sz="1100" b="1" spc="300" kern="0" dirty="0">
                <a:solidFill>
                  <a:srgbClr val="E87722"/>
                </a:solidFill>
                <a:latin typeface="Calibri" pitchFamily="34" charset="0"/>
                <a:ea typeface="Calibri" pitchFamily="34" charset="-122"/>
                <a:cs typeface="Calibri" pitchFamily="34" charset="-120"/>
              </a:rPr>
              <a:t>CEO</a:t>
            </a:r>
            <a:endParaRPr lang="en-US" sz="1100" dirty="0"/>
          </a:p>
        </p:txBody>
      </p:sp>
      <p:sp>
        <p:nvSpPr>
          <p:cNvPr id="4" name="Text 2"/>
          <p:cNvSpPr txBox="1"/>
          <p:nvPr/>
        </p:nvSpPr>
        <p:spPr>
          <a:xfrm>
            <a:off x="548640" y="502920"/>
            <a:ext cx="8046720" cy="548640"/>
          </a:xfrm>
          <a:prstGeom prst="rect">
            <a:avLst/>
          </a:prstGeom>
          <a:noFill/>
          <a:ln/>
        </p:spPr>
        <p:txBody>
          <a:bodyPr wrap="square" lIns="0" tIns="0" rIns="0" bIns="0" rtlCol="0" anchor="ctr"/>
          <a:lstStyle/>
          <a:p>
            <a:pPr indent="0" marL="0">
              <a:buNone/>
            </a:pPr>
            <a:r>
              <a:rPr lang="en-US" sz="2800" b="1" dirty="0">
                <a:solidFill>
                  <a:srgbClr val="1A1A2E"/>
                </a:solidFill>
                <a:latin typeface="Calibri" pitchFamily="34" charset="0"/>
                <a:ea typeface="Calibri" pitchFamily="34" charset="-122"/>
                <a:cs typeface="Calibri" pitchFamily="34" charset="-120"/>
              </a:rPr>
              <a:t>Leadership oversight, without the noise</a:t>
            </a:r>
            <a:endParaRPr lang="en-US" sz="2800" dirty="0"/>
          </a:p>
        </p:txBody>
      </p:sp>
      <p:sp>
        <p:nvSpPr>
          <p:cNvPr id="5" name="Text 3"/>
          <p:cNvSpPr txBox="1"/>
          <p:nvPr/>
        </p:nvSpPr>
        <p:spPr>
          <a:xfrm>
            <a:off x="548640" y="1024128"/>
            <a:ext cx="8046720" cy="274320"/>
          </a:xfrm>
          <a:prstGeom prst="rect">
            <a:avLst/>
          </a:prstGeom>
          <a:noFill/>
          <a:ln/>
        </p:spPr>
        <p:txBody>
          <a:bodyPr wrap="square" lIns="0" tIns="0" rIns="0" bIns="0" rtlCol="0" anchor="ctr"/>
          <a:lstStyle/>
          <a:p>
            <a:pPr indent="0" marL="0">
              <a:buNone/>
            </a:pPr>
            <a:r>
              <a:rPr lang="en-US" sz="1300" dirty="0">
                <a:solidFill>
                  <a:srgbClr val="6E6E73"/>
                </a:solidFill>
                <a:latin typeface="Calibri" pitchFamily="34" charset="0"/>
                <a:ea typeface="Calibri" pitchFamily="34" charset="-122"/>
                <a:cs typeface="Calibri" pitchFamily="34" charset="-120"/>
              </a:rPr>
              <a:t>Clear numbers, firm control over pricing and discounts.</a:t>
            </a:r>
            <a:endParaRPr lang="en-US" sz="1300" dirty="0"/>
          </a:p>
        </p:txBody>
      </p:sp>
      <p:sp>
        <p:nvSpPr>
          <p:cNvPr id="6" name="Shape 4"/>
          <p:cNvSpPr/>
          <p:nvPr/>
        </p:nvSpPr>
        <p:spPr>
          <a:xfrm>
            <a:off x="548640" y="1463040"/>
            <a:ext cx="3977640" cy="73152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48640" y="1463040"/>
            <a:ext cx="64008" cy="731520"/>
          </a:xfrm>
          <a:prstGeom prst="rect">
            <a:avLst/>
          </a:prstGeom>
          <a:solidFill>
            <a:srgbClr val="E87722"/>
          </a:solidFill>
          <a:ln w="12700">
            <a:solidFill>
              <a:srgbClr val="E87722"/>
            </a:solidFill>
            <a:prstDash val="solid"/>
          </a:ln>
        </p:spPr>
      </p:sp>
      <p:sp>
        <p:nvSpPr>
          <p:cNvPr id="8" name="Text 6"/>
          <p:cNvSpPr txBox="1"/>
          <p:nvPr/>
        </p:nvSpPr>
        <p:spPr>
          <a:xfrm>
            <a:off x="731520" y="1463040"/>
            <a:ext cx="3703320" cy="731520"/>
          </a:xfrm>
          <a:prstGeom prst="rect">
            <a:avLst/>
          </a:prstGeom>
          <a:noFill/>
          <a:ln/>
        </p:spPr>
        <p:txBody>
          <a:bodyPr wrap="square" lIns="0" tIns="0" rIns="0" bIns="0"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Executive overview</a:t>
            </a:r>
            <a:endParaRPr lang="en-US" sz="1250" dirty="0"/>
          </a:p>
          <a:p>
            <a:pPr indent="0" marL="0">
              <a:buNone/>
            </a:pPr>
            <a:r>
              <a:rPr lang="en-US" sz="1050" dirty="0">
                <a:solidFill>
                  <a:srgbClr val="6E6E73"/>
                </a:solidFill>
                <a:latin typeface="Calibri" pitchFamily="34" charset="0"/>
                <a:ea typeface="Calibri" pitchFamily="34" charset="-122"/>
                <a:cs typeface="Calibri" pitchFamily="34" charset="-120"/>
              </a:rPr>
              <a:t>Revenue, pipeline and team performance at a glance.</a:t>
            </a:r>
            <a:endParaRPr lang="en-US" sz="1250" dirty="0"/>
          </a:p>
        </p:txBody>
      </p:sp>
      <p:sp>
        <p:nvSpPr>
          <p:cNvPr id="9" name="Shape 7"/>
          <p:cNvSpPr/>
          <p:nvPr/>
        </p:nvSpPr>
        <p:spPr>
          <a:xfrm>
            <a:off x="4709160" y="1463040"/>
            <a:ext cx="3977640" cy="73152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10" name="Shape 8"/>
          <p:cNvSpPr/>
          <p:nvPr/>
        </p:nvSpPr>
        <p:spPr>
          <a:xfrm>
            <a:off x="4709160" y="1463040"/>
            <a:ext cx="64008" cy="731520"/>
          </a:xfrm>
          <a:prstGeom prst="rect">
            <a:avLst/>
          </a:prstGeom>
          <a:solidFill>
            <a:srgbClr val="E87722"/>
          </a:solidFill>
          <a:ln w="12700">
            <a:solidFill>
              <a:srgbClr val="E87722"/>
            </a:solidFill>
            <a:prstDash val="solid"/>
          </a:ln>
        </p:spPr>
      </p:sp>
      <p:sp>
        <p:nvSpPr>
          <p:cNvPr id="11" name="Text 9"/>
          <p:cNvSpPr txBox="1"/>
          <p:nvPr/>
        </p:nvSpPr>
        <p:spPr>
          <a:xfrm>
            <a:off x="4892040" y="1463040"/>
            <a:ext cx="3703320" cy="731520"/>
          </a:xfrm>
          <a:prstGeom prst="rect">
            <a:avLst/>
          </a:prstGeom>
          <a:noFill/>
          <a:ln/>
        </p:spPr>
        <p:txBody>
          <a:bodyPr wrap="square" lIns="0" tIns="0" rIns="0" bIns="0"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Final approval</a:t>
            </a:r>
            <a:endParaRPr lang="en-US" sz="1250" dirty="0"/>
          </a:p>
          <a:p>
            <a:pPr indent="0" marL="0">
              <a:buNone/>
            </a:pPr>
            <a:r>
              <a:rPr lang="en-US" sz="1050" dirty="0">
                <a:solidFill>
                  <a:srgbClr val="6E6E73"/>
                </a:solidFill>
                <a:latin typeface="Calibri" pitchFamily="34" charset="0"/>
                <a:ea typeface="Calibri" pitchFamily="34" charset="-122"/>
                <a:cs typeface="Calibri" pitchFamily="34" charset="-120"/>
              </a:rPr>
              <a:t>Signs off large discounts and prices below the floor.</a:t>
            </a:r>
            <a:endParaRPr lang="en-US" sz="1250" dirty="0"/>
          </a:p>
        </p:txBody>
      </p:sp>
      <p:sp>
        <p:nvSpPr>
          <p:cNvPr id="12" name="Shape 10"/>
          <p:cNvSpPr/>
          <p:nvPr/>
        </p:nvSpPr>
        <p:spPr>
          <a:xfrm>
            <a:off x="548640" y="2286000"/>
            <a:ext cx="3977640" cy="73152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13" name="Shape 11"/>
          <p:cNvSpPr/>
          <p:nvPr/>
        </p:nvSpPr>
        <p:spPr>
          <a:xfrm>
            <a:off x="548640" y="2286000"/>
            <a:ext cx="64008" cy="731520"/>
          </a:xfrm>
          <a:prstGeom prst="rect">
            <a:avLst/>
          </a:prstGeom>
          <a:solidFill>
            <a:srgbClr val="E87722"/>
          </a:solidFill>
          <a:ln w="12700">
            <a:solidFill>
              <a:srgbClr val="E87722"/>
            </a:solidFill>
            <a:prstDash val="solid"/>
          </a:ln>
        </p:spPr>
      </p:sp>
      <p:sp>
        <p:nvSpPr>
          <p:cNvPr id="14" name="Text 12"/>
          <p:cNvSpPr txBox="1"/>
          <p:nvPr/>
        </p:nvSpPr>
        <p:spPr>
          <a:xfrm>
            <a:off x="731520" y="2286000"/>
            <a:ext cx="3703320" cy="731520"/>
          </a:xfrm>
          <a:prstGeom prst="rect">
            <a:avLst/>
          </a:prstGeom>
          <a:noFill/>
          <a:ln/>
        </p:spPr>
        <p:txBody>
          <a:bodyPr wrap="square" lIns="0" tIns="0" rIns="0" bIns="0"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Rep performance</a:t>
            </a:r>
            <a:endParaRPr lang="en-US" sz="1250" dirty="0"/>
          </a:p>
          <a:p>
            <a:pPr indent="0" marL="0">
              <a:buNone/>
            </a:pPr>
            <a:r>
              <a:rPr lang="en-US" sz="1050" dirty="0">
                <a:solidFill>
                  <a:srgbClr val="6E6E73"/>
                </a:solidFill>
                <a:latin typeface="Calibri" pitchFamily="34" charset="0"/>
                <a:ea typeface="Calibri" pitchFamily="34" charset="-122"/>
                <a:cs typeface="Calibri" pitchFamily="34" charset="-120"/>
              </a:rPr>
              <a:t>Click any rep for deals, calls, tasks and target progress.</a:t>
            </a:r>
            <a:endParaRPr lang="en-US" sz="1250" dirty="0"/>
          </a:p>
        </p:txBody>
      </p:sp>
      <p:sp>
        <p:nvSpPr>
          <p:cNvPr id="15" name="Shape 13"/>
          <p:cNvSpPr/>
          <p:nvPr/>
        </p:nvSpPr>
        <p:spPr>
          <a:xfrm>
            <a:off x="4709160" y="2286000"/>
            <a:ext cx="3977640" cy="73152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16" name="Shape 14"/>
          <p:cNvSpPr/>
          <p:nvPr/>
        </p:nvSpPr>
        <p:spPr>
          <a:xfrm>
            <a:off x="4709160" y="2286000"/>
            <a:ext cx="64008" cy="731520"/>
          </a:xfrm>
          <a:prstGeom prst="rect">
            <a:avLst/>
          </a:prstGeom>
          <a:solidFill>
            <a:srgbClr val="E87722"/>
          </a:solidFill>
          <a:ln w="12700">
            <a:solidFill>
              <a:srgbClr val="E87722"/>
            </a:solidFill>
            <a:prstDash val="solid"/>
          </a:ln>
        </p:spPr>
      </p:sp>
      <p:sp>
        <p:nvSpPr>
          <p:cNvPr id="17" name="Text 15"/>
          <p:cNvSpPr txBox="1"/>
          <p:nvPr/>
        </p:nvSpPr>
        <p:spPr>
          <a:xfrm>
            <a:off x="4892040" y="2286000"/>
            <a:ext cx="3703320" cy="731520"/>
          </a:xfrm>
          <a:prstGeom prst="rect">
            <a:avLst/>
          </a:prstGeom>
          <a:noFill/>
          <a:ln/>
        </p:spPr>
        <p:txBody>
          <a:bodyPr wrap="square" lIns="0" tIns="0" rIns="0" bIns="0"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Revenue reports</a:t>
            </a:r>
            <a:endParaRPr lang="en-US" sz="1250" dirty="0"/>
          </a:p>
          <a:p>
            <a:pPr indent="0" marL="0">
              <a:buNone/>
            </a:pPr>
            <a:r>
              <a:rPr lang="en-US" sz="1050" dirty="0">
                <a:solidFill>
                  <a:srgbClr val="6E6E73"/>
                </a:solidFill>
                <a:latin typeface="Calibri" pitchFamily="34" charset="0"/>
                <a:ea typeface="Calibri" pitchFamily="34" charset="-122"/>
                <a:cs typeface="Calibri" pitchFamily="34" charset="-120"/>
              </a:rPr>
              <a:t>Pipeline value, win rate and discounting by rep.</a:t>
            </a:r>
            <a:endParaRPr lang="en-US" sz="1250" dirty="0"/>
          </a:p>
        </p:txBody>
      </p:sp>
      <p:sp>
        <p:nvSpPr>
          <p:cNvPr id="18" name="Shape 16"/>
          <p:cNvSpPr/>
          <p:nvPr/>
        </p:nvSpPr>
        <p:spPr>
          <a:xfrm>
            <a:off x="548640" y="3108960"/>
            <a:ext cx="3977640" cy="73152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19" name="Shape 17"/>
          <p:cNvSpPr/>
          <p:nvPr/>
        </p:nvSpPr>
        <p:spPr>
          <a:xfrm>
            <a:off x="548640" y="3108960"/>
            <a:ext cx="64008" cy="731520"/>
          </a:xfrm>
          <a:prstGeom prst="rect">
            <a:avLst/>
          </a:prstGeom>
          <a:solidFill>
            <a:srgbClr val="E87722"/>
          </a:solidFill>
          <a:ln w="12700">
            <a:solidFill>
              <a:srgbClr val="E87722"/>
            </a:solidFill>
            <a:prstDash val="solid"/>
          </a:ln>
        </p:spPr>
      </p:sp>
      <p:sp>
        <p:nvSpPr>
          <p:cNvPr id="20" name="Text 18"/>
          <p:cNvSpPr txBox="1"/>
          <p:nvPr/>
        </p:nvSpPr>
        <p:spPr>
          <a:xfrm>
            <a:off x="731520" y="3108960"/>
            <a:ext cx="3703320" cy="731520"/>
          </a:xfrm>
          <a:prstGeom prst="rect">
            <a:avLst/>
          </a:prstGeom>
          <a:noFill/>
          <a:ln/>
        </p:spPr>
        <p:txBody>
          <a:bodyPr wrap="square" lIns="0" tIns="0" rIns="0" bIns="0"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Lost-deal insight</a:t>
            </a:r>
            <a:endParaRPr lang="en-US" sz="1250" dirty="0"/>
          </a:p>
          <a:p>
            <a:pPr indent="0" marL="0">
              <a:buNone/>
            </a:pPr>
            <a:r>
              <a:rPr lang="en-US" sz="1050" dirty="0">
                <a:solidFill>
                  <a:srgbClr val="6E6E73"/>
                </a:solidFill>
                <a:latin typeface="Calibri" pitchFamily="34" charset="0"/>
                <a:ea typeface="Calibri" pitchFamily="34" charset="-122"/>
                <a:cs typeface="Calibri" pitchFamily="34" charset="-120"/>
              </a:rPr>
              <a:t>Why deals were lost, by reason, rep and value.</a:t>
            </a:r>
            <a:endParaRPr lang="en-US" sz="1250" dirty="0"/>
          </a:p>
        </p:txBody>
      </p:sp>
      <p:sp>
        <p:nvSpPr>
          <p:cNvPr id="21" name="Shape 19"/>
          <p:cNvSpPr/>
          <p:nvPr/>
        </p:nvSpPr>
        <p:spPr>
          <a:xfrm>
            <a:off x="4709160" y="3108960"/>
            <a:ext cx="3977640" cy="73152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22" name="Shape 20"/>
          <p:cNvSpPr/>
          <p:nvPr/>
        </p:nvSpPr>
        <p:spPr>
          <a:xfrm>
            <a:off x="4709160" y="3108960"/>
            <a:ext cx="64008" cy="731520"/>
          </a:xfrm>
          <a:prstGeom prst="rect">
            <a:avLst/>
          </a:prstGeom>
          <a:solidFill>
            <a:srgbClr val="E87722"/>
          </a:solidFill>
          <a:ln w="12700">
            <a:solidFill>
              <a:srgbClr val="E87722"/>
            </a:solidFill>
            <a:prstDash val="solid"/>
          </a:ln>
        </p:spPr>
      </p:sp>
      <p:sp>
        <p:nvSpPr>
          <p:cNvPr id="23" name="Text 21"/>
          <p:cNvSpPr txBox="1"/>
          <p:nvPr/>
        </p:nvSpPr>
        <p:spPr>
          <a:xfrm>
            <a:off x="4892040" y="3108960"/>
            <a:ext cx="3703320" cy="731520"/>
          </a:xfrm>
          <a:prstGeom prst="rect">
            <a:avLst/>
          </a:prstGeom>
          <a:noFill/>
          <a:ln/>
        </p:spPr>
        <p:txBody>
          <a:bodyPr wrap="square" lIns="0" tIns="0" rIns="0" bIns="0"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Full audit trail</a:t>
            </a:r>
            <a:endParaRPr lang="en-US" sz="1250" dirty="0"/>
          </a:p>
          <a:p>
            <a:pPr indent="0" marL="0">
              <a:buNone/>
            </a:pPr>
            <a:r>
              <a:rPr lang="en-US" sz="1050" dirty="0">
                <a:solidFill>
                  <a:srgbClr val="6E6E73"/>
                </a:solidFill>
                <a:latin typeface="Calibri" pitchFamily="34" charset="0"/>
                <a:ea typeface="Calibri" pitchFamily="34" charset="-122"/>
                <a:cs typeface="Calibri" pitchFamily="34" charset="-120"/>
              </a:rPr>
              <a:t>Every approval and change, with the person behind it.</a:t>
            </a:r>
            <a:endParaRPr lang="en-US" sz="1250" dirty="0"/>
          </a:p>
        </p:txBody>
      </p:sp>
      <p:sp>
        <p:nvSpPr>
          <p:cNvPr id="24" name="Shape 22"/>
          <p:cNvSpPr/>
          <p:nvPr/>
        </p:nvSpPr>
        <p:spPr>
          <a:xfrm>
            <a:off x="548640" y="3931920"/>
            <a:ext cx="3977640" cy="73152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25" name="Shape 23"/>
          <p:cNvSpPr/>
          <p:nvPr/>
        </p:nvSpPr>
        <p:spPr>
          <a:xfrm>
            <a:off x="548640" y="3931920"/>
            <a:ext cx="64008" cy="731520"/>
          </a:xfrm>
          <a:prstGeom prst="rect">
            <a:avLst/>
          </a:prstGeom>
          <a:solidFill>
            <a:srgbClr val="E87722"/>
          </a:solidFill>
          <a:ln w="12700">
            <a:solidFill>
              <a:srgbClr val="E87722"/>
            </a:solidFill>
            <a:prstDash val="solid"/>
          </a:ln>
        </p:spPr>
      </p:sp>
      <p:sp>
        <p:nvSpPr>
          <p:cNvPr id="26" name="Text 24"/>
          <p:cNvSpPr txBox="1"/>
          <p:nvPr/>
        </p:nvSpPr>
        <p:spPr>
          <a:xfrm>
            <a:off x="731520" y="3931920"/>
            <a:ext cx="3703320" cy="731520"/>
          </a:xfrm>
          <a:prstGeom prst="rect">
            <a:avLst/>
          </a:prstGeom>
          <a:noFill/>
          <a:ln/>
        </p:spPr>
        <p:txBody>
          <a:bodyPr wrap="square" lIns="0" tIns="0" rIns="0" bIns="0"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Team and targets</a:t>
            </a:r>
            <a:endParaRPr lang="en-US" sz="1250" dirty="0"/>
          </a:p>
          <a:p>
            <a:pPr indent="0" marL="0">
              <a:buNone/>
            </a:pPr>
            <a:r>
              <a:rPr lang="en-US" sz="1050" dirty="0">
                <a:solidFill>
                  <a:srgbClr val="6E6E73"/>
                </a:solidFill>
                <a:latin typeface="Calibri" pitchFamily="34" charset="0"/>
                <a:ea typeface="Calibri" pitchFamily="34" charset="-122"/>
                <a:cs typeface="Calibri" pitchFamily="34" charset="-120"/>
              </a:rPr>
              <a:t>Add reps and set sales targets.</a:t>
            </a:r>
            <a:endParaRPr lang="en-US" sz="1250" dirty="0"/>
          </a:p>
        </p:txBody>
      </p:sp>
      <p:sp>
        <p:nvSpPr>
          <p:cNvPr id="27" name="Shape 25"/>
          <p:cNvSpPr/>
          <p:nvPr/>
        </p:nvSpPr>
        <p:spPr>
          <a:xfrm>
            <a:off x="4709160" y="3931920"/>
            <a:ext cx="3977640" cy="73152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28" name="Shape 26"/>
          <p:cNvSpPr/>
          <p:nvPr/>
        </p:nvSpPr>
        <p:spPr>
          <a:xfrm>
            <a:off x="4709160" y="3931920"/>
            <a:ext cx="64008" cy="731520"/>
          </a:xfrm>
          <a:prstGeom prst="rect">
            <a:avLst/>
          </a:prstGeom>
          <a:solidFill>
            <a:srgbClr val="E87722"/>
          </a:solidFill>
          <a:ln w="12700">
            <a:solidFill>
              <a:srgbClr val="E87722"/>
            </a:solidFill>
            <a:prstDash val="solid"/>
          </a:ln>
        </p:spPr>
      </p:sp>
      <p:sp>
        <p:nvSpPr>
          <p:cNvPr id="29" name="Text 27"/>
          <p:cNvSpPr txBox="1"/>
          <p:nvPr/>
        </p:nvSpPr>
        <p:spPr>
          <a:xfrm>
            <a:off x="4892040" y="3931920"/>
            <a:ext cx="3703320" cy="731520"/>
          </a:xfrm>
          <a:prstGeom prst="rect">
            <a:avLst/>
          </a:prstGeom>
          <a:noFill/>
          <a:ln/>
        </p:spPr>
        <p:txBody>
          <a:bodyPr wrap="square" lIns="0" tIns="0" rIns="0" bIns="0"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Policy control</a:t>
            </a:r>
            <a:endParaRPr lang="en-US" sz="1250" dirty="0"/>
          </a:p>
          <a:p>
            <a:pPr indent="0" marL="0">
              <a:buNone/>
            </a:pPr>
            <a:r>
              <a:rPr lang="en-US" sz="1050" dirty="0">
                <a:solidFill>
                  <a:srgbClr val="6E6E73"/>
                </a:solidFill>
                <a:latin typeface="Calibri" pitchFamily="34" charset="0"/>
                <a:ea typeface="Calibri" pitchFamily="34" charset="-122"/>
                <a:cs typeface="Calibri" pitchFamily="34" charset="-120"/>
              </a:rPr>
              <a:t>Set discount limits and minimum prices.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5"/>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7722"/>
          </a:solidFill>
          <a:ln w="12700">
            <a:solidFill>
              <a:srgbClr val="E87722"/>
            </a:solidFill>
            <a:prstDash val="solid"/>
          </a:ln>
        </p:spPr>
      </p:sp>
      <p:sp>
        <p:nvSpPr>
          <p:cNvPr id="3" name="Text 1"/>
          <p:cNvSpPr txBox="1"/>
          <p:nvPr/>
        </p:nvSpPr>
        <p:spPr>
          <a:xfrm>
            <a:off x="548640" y="256032"/>
            <a:ext cx="3657600" cy="256032"/>
          </a:xfrm>
          <a:prstGeom prst="rect">
            <a:avLst/>
          </a:prstGeom>
          <a:noFill/>
          <a:ln/>
        </p:spPr>
        <p:txBody>
          <a:bodyPr wrap="square" lIns="0" tIns="0" rIns="0" bIns="0" rtlCol="0" anchor="ctr"/>
          <a:lstStyle/>
          <a:p>
            <a:pPr indent="0" marL="0">
              <a:buNone/>
            </a:pPr>
            <a:r>
              <a:rPr lang="en-US" sz="1100" b="1" spc="300" kern="0" dirty="0">
                <a:solidFill>
                  <a:srgbClr val="E87722"/>
                </a:solidFill>
                <a:latin typeface="Calibri" pitchFamily="34" charset="0"/>
                <a:ea typeface="Calibri" pitchFamily="34" charset="-122"/>
                <a:cs typeface="Calibri" pitchFamily="34" charset="-120"/>
              </a:rPr>
              <a:t>CEO · COMPLETE LIST</a:t>
            </a:r>
            <a:endParaRPr lang="en-US" sz="1100" dirty="0"/>
          </a:p>
        </p:txBody>
      </p:sp>
      <p:sp>
        <p:nvSpPr>
          <p:cNvPr id="4" name="Text 2"/>
          <p:cNvSpPr txBox="1"/>
          <p:nvPr/>
        </p:nvSpPr>
        <p:spPr>
          <a:xfrm>
            <a:off x="548640" y="502920"/>
            <a:ext cx="8046720" cy="548640"/>
          </a:xfrm>
          <a:prstGeom prst="rect">
            <a:avLst/>
          </a:prstGeom>
          <a:noFill/>
          <a:ln/>
        </p:spPr>
        <p:txBody>
          <a:bodyPr wrap="square" lIns="0" tIns="0" rIns="0" bIns="0" rtlCol="0" anchor="ctr"/>
          <a:lstStyle/>
          <a:p>
            <a:pPr indent="0" marL="0">
              <a:buNone/>
            </a:pPr>
            <a:r>
              <a:rPr lang="en-US" sz="2800" b="1" dirty="0">
                <a:solidFill>
                  <a:srgbClr val="1A1A2E"/>
                </a:solidFill>
                <a:latin typeface="Calibri" pitchFamily="34" charset="0"/>
                <a:ea typeface="Calibri" pitchFamily="34" charset="-122"/>
                <a:cs typeface="Calibri" pitchFamily="34" charset="-120"/>
              </a:rPr>
              <a:t>Everything a CEO gets</a:t>
            </a:r>
            <a:endParaRPr lang="en-US" sz="2800" dirty="0"/>
          </a:p>
        </p:txBody>
      </p:sp>
      <p:sp>
        <p:nvSpPr>
          <p:cNvPr id="5" name="Shape 3"/>
          <p:cNvSpPr/>
          <p:nvPr/>
        </p:nvSpPr>
        <p:spPr>
          <a:xfrm>
            <a:off x="548640" y="1188720"/>
            <a:ext cx="2560320" cy="361188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6" name="Shape 4"/>
          <p:cNvSpPr/>
          <p:nvPr/>
        </p:nvSpPr>
        <p:spPr>
          <a:xfrm>
            <a:off x="548640" y="1188720"/>
            <a:ext cx="2560320" cy="64008"/>
          </a:xfrm>
          <a:prstGeom prst="rect">
            <a:avLst/>
          </a:prstGeom>
          <a:solidFill>
            <a:srgbClr val="E87722"/>
          </a:solidFill>
          <a:ln w="12700">
            <a:solidFill>
              <a:srgbClr val="E87722"/>
            </a:solidFill>
            <a:prstDash val="solid"/>
          </a:ln>
        </p:spPr>
      </p:sp>
      <p:sp>
        <p:nvSpPr>
          <p:cNvPr id="7" name="Text 5"/>
          <p:cNvSpPr txBox="1"/>
          <p:nvPr/>
        </p:nvSpPr>
        <p:spPr>
          <a:xfrm>
            <a:off x="731520" y="1325880"/>
            <a:ext cx="2194560" cy="320040"/>
          </a:xfrm>
          <a:prstGeom prst="rect">
            <a:avLst/>
          </a:prstGeom>
          <a:noFill/>
          <a:ln/>
        </p:spPr>
        <p:txBody>
          <a:bodyPr wrap="square" lIns="0" tIns="0" rIns="0" bIns="0" rtlCol="0" anchor="ctr"/>
          <a:lstStyle/>
          <a:p>
            <a:pPr indent="0" marL="0">
              <a:buNone/>
            </a:pPr>
            <a:r>
              <a:rPr lang="en-US" sz="1400" b="1" dirty="0">
                <a:solidFill>
                  <a:srgbClr val="D45F1A"/>
                </a:solidFill>
                <a:latin typeface="Calibri" pitchFamily="34" charset="0"/>
                <a:ea typeface="Calibri" pitchFamily="34" charset="-122"/>
                <a:cs typeface="Calibri" pitchFamily="34" charset="-120"/>
              </a:rPr>
              <a:t>Executive view</a:t>
            </a:r>
            <a:endParaRPr lang="en-US" sz="1400" dirty="0"/>
          </a:p>
        </p:txBody>
      </p:sp>
      <p:sp>
        <p:nvSpPr>
          <p:cNvPr id="8" name="Text 6"/>
          <p:cNvSpPr txBox="1"/>
          <p:nvPr/>
        </p:nvSpPr>
        <p:spPr>
          <a:xfrm>
            <a:off x="731520" y="1737360"/>
            <a:ext cx="2240280" cy="297180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Company overview dashboard</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Pipeline, revenue and conversion by rep</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Rep leaderboard</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All pipelines, stages and clients</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Alerts when deals close or are cancelled</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Invoice and payment status at a glance</a:t>
            </a:r>
            <a:endParaRPr lang="en-US" sz="1050" dirty="0"/>
          </a:p>
        </p:txBody>
      </p:sp>
      <p:sp>
        <p:nvSpPr>
          <p:cNvPr id="9" name="Shape 7"/>
          <p:cNvSpPr/>
          <p:nvPr/>
        </p:nvSpPr>
        <p:spPr>
          <a:xfrm>
            <a:off x="3337560" y="1188720"/>
            <a:ext cx="2560320" cy="361188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10" name="Shape 8"/>
          <p:cNvSpPr/>
          <p:nvPr/>
        </p:nvSpPr>
        <p:spPr>
          <a:xfrm>
            <a:off x="3337560" y="1188720"/>
            <a:ext cx="2560320" cy="64008"/>
          </a:xfrm>
          <a:prstGeom prst="rect">
            <a:avLst/>
          </a:prstGeom>
          <a:solidFill>
            <a:srgbClr val="E87722"/>
          </a:solidFill>
          <a:ln w="12700">
            <a:solidFill>
              <a:srgbClr val="E87722"/>
            </a:solidFill>
            <a:prstDash val="solid"/>
          </a:ln>
        </p:spPr>
      </p:sp>
      <p:sp>
        <p:nvSpPr>
          <p:cNvPr id="11" name="Text 9"/>
          <p:cNvSpPr txBox="1"/>
          <p:nvPr/>
        </p:nvSpPr>
        <p:spPr>
          <a:xfrm>
            <a:off x="3520440" y="1325880"/>
            <a:ext cx="2194560" cy="320040"/>
          </a:xfrm>
          <a:prstGeom prst="rect">
            <a:avLst/>
          </a:prstGeom>
          <a:noFill/>
          <a:ln/>
        </p:spPr>
        <p:txBody>
          <a:bodyPr wrap="square" lIns="0" tIns="0" rIns="0" bIns="0" rtlCol="0" anchor="ctr"/>
          <a:lstStyle/>
          <a:p>
            <a:pPr indent="0" marL="0">
              <a:buNone/>
            </a:pPr>
            <a:r>
              <a:rPr lang="en-US" sz="1400" b="1" dirty="0">
                <a:solidFill>
                  <a:srgbClr val="D45F1A"/>
                </a:solidFill>
                <a:latin typeface="Calibri" pitchFamily="34" charset="0"/>
                <a:ea typeface="Calibri" pitchFamily="34" charset="-122"/>
                <a:cs typeface="Calibri" pitchFamily="34" charset="-120"/>
              </a:rPr>
              <a:t>Approvals and policy</a:t>
            </a:r>
            <a:endParaRPr lang="en-US" sz="1400" dirty="0"/>
          </a:p>
        </p:txBody>
      </p:sp>
      <p:sp>
        <p:nvSpPr>
          <p:cNvPr id="12" name="Text 10"/>
          <p:cNvSpPr txBox="1"/>
          <p:nvPr/>
        </p:nvSpPr>
        <p:spPr>
          <a:xfrm>
            <a:off x="3520440" y="1737360"/>
            <a:ext cx="2240280" cy="297180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Sees every pending approval</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Final sign-off above the Admin limit</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Approves prices below the floor</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Sets discount limits (default 5% and 15%)</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Maintains products and minimum prices</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Sets payment reminder timing</a:t>
            </a:r>
            <a:endParaRPr lang="en-US" sz="1050" dirty="0"/>
          </a:p>
        </p:txBody>
      </p:sp>
      <p:sp>
        <p:nvSpPr>
          <p:cNvPr id="13" name="Shape 11"/>
          <p:cNvSpPr/>
          <p:nvPr/>
        </p:nvSpPr>
        <p:spPr>
          <a:xfrm>
            <a:off x="6126480" y="1188720"/>
            <a:ext cx="2560320" cy="361188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14" name="Shape 12"/>
          <p:cNvSpPr/>
          <p:nvPr/>
        </p:nvSpPr>
        <p:spPr>
          <a:xfrm>
            <a:off x="6126480" y="1188720"/>
            <a:ext cx="2560320" cy="64008"/>
          </a:xfrm>
          <a:prstGeom prst="rect">
            <a:avLst/>
          </a:prstGeom>
          <a:solidFill>
            <a:srgbClr val="E87722"/>
          </a:solidFill>
          <a:ln w="12700">
            <a:solidFill>
              <a:srgbClr val="E87722"/>
            </a:solidFill>
            <a:prstDash val="solid"/>
          </a:ln>
        </p:spPr>
      </p:sp>
      <p:sp>
        <p:nvSpPr>
          <p:cNvPr id="15" name="Text 13"/>
          <p:cNvSpPr txBox="1"/>
          <p:nvPr/>
        </p:nvSpPr>
        <p:spPr>
          <a:xfrm>
            <a:off x="6309360" y="1325880"/>
            <a:ext cx="2194560" cy="320040"/>
          </a:xfrm>
          <a:prstGeom prst="rect">
            <a:avLst/>
          </a:prstGeom>
          <a:noFill/>
          <a:ln/>
        </p:spPr>
        <p:txBody>
          <a:bodyPr wrap="square" lIns="0" tIns="0" rIns="0" bIns="0" rtlCol="0" anchor="ctr"/>
          <a:lstStyle/>
          <a:p>
            <a:pPr indent="0" marL="0">
              <a:buNone/>
            </a:pPr>
            <a:r>
              <a:rPr lang="en-US" sz="1400" b="1" dirty="0">
                <a:solidFill>
                  <a:srgbClr val="D45F1A"/>
                </a:solidFill>
                <a:latin typeface="Calibri" pitchFamily="34" charset="0"/>
                <a:ea typeface="Calibri" pitchFamily="34" charset="-122"/>
                <a:cs typeface="Calibri" pitchFamily="34" charset="-120"/>
              </a:rPr>
              <a:t>Insight and control</a:t>
            </a:r>
            <a:endParaRPr lang="en-US" sz="1400" dirty="0"/>
          </a:p>
        </p:txBody>
      </p:sp>
      <p:sp>
        <p:nvSpPr>
          <p:cNvPr id="16" name="Text 14"/>
          <p:cNvSpPr txBox="1"/>
          <p:nvPr/>
        </p:nvSpPr>
        <p:spPr>
          <a:xfrm>
            <a:off x="6309360" y="1737360"/>
            <a:ext cx="2240280" cy="297180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Full profile for every rep</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Reports: win rate, discounting, lost reasons</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Revenue lost by reason and by rep</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Calls and meetings by rep</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Duplicate-client report and CSV export</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Audit log of every action</a:t>
            </a:r>
            <a:endParaRPr lang="en-US" sz="1050" dirty="0"/>
          </a:p>
          <a:p>
            <a:pPr marL="342900" indent="-342900">
              <a:spcAft>
                <a:spcPts val="400"/>
              </a:spcAft>
              <a:buSzPct val="100000"/>
              <a:buChar char="•"/>
            </a:pPr>
            <a:r>
              <a:rPr lang="en-US" sz="1050" dirty="0">
                <a:solidFill>
                  <a:srgbClr val="1A1A2E"/>
                </a:solidFill>
                <a:latin typeface="Calibri" pitchFamily="34" charset="0"/>
                <a:ea typeface="Calibri" pitchFamily="34" charset="-122"/>
                <a:cs typeface="Calibri" pitchFamily="34" charset="-120"/>
              </a:rPr>
              <a:t>Create reps and set sales targets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5"/>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7722"/>
          </a:solidFill>
          <a:ln w="12700">
            <a:solidFill>
              <a:srgbClr val="E87722"/>
            </a:solidFill>
            <a:prstDash val="solid"/>
          </a:ln>
        </p:spPr>
      </p:sp>
      <p:sp>
        <p:nvSpPr>
          <p:cNvPr id="3" name="Text 1"/>
          <p:cNvSpPr txBox="1"/>
          <p:nvPr/>
        </p:nvSpPr>
        <p:spPr>
          <a:xfrm>
            <a:off x="548640" y="256032"/>
            <a:ext cx="3657600" cy="256032"/>
          </a:xfrm>
          <a:prstGeom prst="rect">
            <a:avLst/>
          </a:prstGeom>
          <a:noFill/>
          <a:ln/>
        </p:spPr>
        <p:txBody>
          <a:bodyPr wrap="square" lIns="0" tIns="0" rIns="0" bIns="0" rtlCol="0" anchor="ctr"/>
          <a:lstStyle/>
          <a:p>
            <a:pPr indent="0" marL="0">
              <a:buNone/>
            </a:pPr>
            <a:r>
              <a:rPr lang="en-US" sz="1100" b="1" spc="300" kern="0" dirty="0">
                <a:solidFill>
                  <a:srgbClr val="E87722"/>
                </a:solidFill>
                <a:latin typeface="Calibri" pitchFamily="34" charset="0"/>
                <a:ea typeface="Calibri" pitchFamily="34" charset="-122"/>
                <a:cs typeface="Calibri" pitchFamily="34" charset="-120"/>
              </a:rPr>
              <a:t>END TO END</a:t>
            </a:r>
            <a:endParaRPr lang="en-US" sz="1100" dirty="0"/>
          </a:p>
        </p:txBody>
      </p:sp>
      <p:sp>
        <p:nvSpPr>
          <p:cNvPr id="4" name="Text 2"/>
          <p:cNvSpPr txBox="1"/>
          <p:nvPr/>
        </p:nvSpPr>
        <p:spPr>
          <a:xfrm>
            <a:off x="548640" y="502920"/>
            <a:ext cx="8046720" cy="548640"/>
          </a:xfrm>
          <a:prstGeom prst="rect">
            <a:avLst/>
          </a:prstGeom>
          <a:noFill/>
          <a:ln/>
        </p:spPr>
        <p:txBody>
          <a:bodyPr wrap="square" lIns="0" tIns="0" rIns="0" bIns="0" rtlCol="0" anchor="ctr"/>
          <a:lstStyle/>
          <a:p>
            <a:pPr indent="0" marL="0">
              <a:buNone/>
            </a:pPr>
            <a:r>
              <a:rPr lang="en-US" sz="2800" b="1" dirty="0">
                <a:solidFill>
                  <a:srgbClr val="1A1A2E"/>
                </a:solidFill>
                <a:latin typeface="Calibri" pitchFamily="34" charset="0"/>
                <a:ea typeface="Calibri" pitchFamily="34" charset="-122"/>
                <a:cs typeface="Calibri" pitchFamily="34" charset="-120"/>
              </a:rPr>
              <a:t>From first call to paid invoice</a:t>
            </a:r>
            <a:endParaRPr lang="en-US" sz="2800" dirty="0"/>
          </a:p>
        </p:txBody>
      </p:sp>
      <p:sp>
        <p:nvSpPr>
          <p:cNvPr id="5" name="Text 3"/>
          <p:cNvSpPr txBox="1"/>
          <p:nvPr/>
        </p:nvSpPr>
        <p:spPr>
          <a:xfrm>
            <a:off x="548640" y="1024128"/>
            <a:ext cx="8046720" cy="274320"/>
          </a:xfrm>
          <a:prstGeom prst="rect">
            <a:avLst/>
          </a:prstGeom>
          <a:noFill/>
          <a:ln/>
        </p:spPr>
        <p:txBody>
          <a:bodyPr wrap="square" lIns="0" tIns="0" rIns="0" bIns="0" rtlCol="0" anchor="ctr"/>
          <a:lstStyle/>
          <a:p>
            <a:pPr indent="0" marL="0">
              <a:buNone/>
            </a:pPr>
            <a:r>
              <a:rPr lang="en-US" sz="1300" dirty="0">
                <a:solidFill>
                  <a:srgbClr val="6E6E73"/>
                </a:solidFill>
                <a:latin typeface="Calibri" pitchFamily="34" charset="0"/>
                <a:ea typeface="Calibri" pitchFamily="34" charset="-122"/>
                <a:cs typeface="Calibri" pitchFamily="34" charset="-120"/>
              </a:rPr>
              <a:t>Every step tracked, every decision recorded.</a:t>
            </a:r>
            <a:endParaRPr lang="en-US" sz="1300" dirty="0"/>
          </a:p>
        </p:txBody>
      </p:sp>
      <p:sp>
        <p:nvSpPr>
          <p:cNvPr id="6" name="Shape 4"/>
          <p:cNvSpPr/>
          <p:nvPr/>
        </p:nvSpPr>
        <p:spPr>
          <a:xfrm>
            <a:off x="548640" y="1508760"/>
            <a:ext cx="1463040" cy="594360"/>
          </a:xfrm>
          <a:prstGeom prst="roundRect">
            <a:avLst>
              <a:gd name="adj" fmla="val 12308"/>
            </a:avLst>
          </a:prstGeom>
          <a:solidFill>
            <a:srgbClr val="E87722"/>
          </a:solidFill>
          <a:ln w="12700">
            <a:solidFill>
              <a:srgbClr val="E87722"/>
            </a:solidFill>
            <a:prstDash val="solid"/>
          </a:ln>
        </p:spPr>
      </p:sp>
      <p:sp>
        <p:nvSpPr>
          <p:cNvPr id="7" name="Text 5"/>
          <p:cNvSpPr txBox="1"/>
          <p:nvPr/>
        </p:nvSpPr>
        <p:spPr>
          <a:xfrm>
            <a:off x="548640" y="1508760"/>
            <a:ext cx="146304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Discover</a:t>
            </a:r>
            <a:endParaRPr lang="en-US" sz="1300" dirty="0"/>
          </a:p>
        </p:txBody>
      </p:sp>
      <p:sp>
        <p:nvSpPr>
          <p:cNvPr id="8" name="Text 6"/>
          <p:cNvSpPr txBox="1"/>
          <p:nvPr/>
        </p:nvSpPr>
        <p:spPr>
          <a:xfrm>
            <a:off x="2011680" y="1508760"/>
            <a:ext cx="228600" cy="594360"/>
          </a:xfrm>
          <a:prstGeom prst="rect">
            <a:avLst/>
          </a:prstGeom>
          <a:noFill/>
          <a:ln/>
        </p:spPr>
        <p:txBody>
          <a:bodyPr wrap="square" lIns="0" tIns="0" rIns="0" bIns="0" rtlCol="0" anchor="ctr"/>
          <a:lstStyle/>
          <a:p>
            <a:pPr algn="ctr" indent="0" marL="0">
              <a:buNone/>
            </a:pPr>
            <a:r>
              <a:rPr lang="en-US" sz="2200" b="1" dirty="0">
                <a:solidFill>
                  <a:srgbClr val="6E6E73"/>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2240280" y="1508760"/>
            <a:ext cx="1463040" cy="594360"/>
          </a:xfrm>
          <a:prstGeom prst="roundRect">
            <a:avLst>
              <a:gd name="adj" fmla="val 12308"/>
            </a:avLst>
          </a:prstGeom>
          <a:solidFill>
            <a:srgbClr val="E87722"/>
          </a:solidFill>
          <a:ln w="12700">
            <a:solidFill>
              <a:srgbClr val="E87722"/>
            </a:solidFill>
            <a:prstDash val="solid"/>
          </a:ln>
        </p:spPr>
      </p:sp>
      <p:sp>
        <p:nvSpPr>
          <p:cNvPr id="10" name="Text 8"/>
          <p:cNvSpPr txBox="1"/>
          <p:nvPr/>
        </p:nvSpPr>
        <p:spPr>
          <a:xfrm>
            <a:off x="2240280" y="1508760"/>
            <a:ext cx="146304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Identify</a:t>
            </a:r>
            <a:endParaRPr lang="en-US" sz="1300" dirty="0"/>
          </a:p>
        </p:txBody>
      </p:sp>
      <p:sp>
        <p:nvSpPr>
          <p:cNvPr id="11" name="Text 9"/>
          <p:cNvSpPr txBox="1"/>
          <p:nvPr/>
        </p:nvSpPr>
        <p:spPr>
          <a:xfrm>
            <a:off x="3703320" y="1508760"/>
            <a:ext cx="228600" cy="594360"/>
          </a:xfrm>
          <a:prstGeom prst="rect">
            <a:avLst/>
          </a:prstGeom>
          <a:noFill/>
          <a:ln/>
        </p:spPr>
        <p:txBody>
          <a:bodyPr wrap="square" lIns="0" tIns="0" rIns="0" bIns="0" rtlCol="0" anchor="ctr"/>
          <a:lstStyle/>
          <a:p>
            <a:pPr algn="ctr" indent="0" marL="0">
              <a:buNone/>
            </a:pPr>
            <a:r>
              <a:rPr lang="en-US" sz="2200" b="1" dirty="0">
                <a:solidFill>
                  <a:srgbClr val="6E6E73"/>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3931920" y="1508760"/>
            <a:ext cx="1463040" cy="594360"/>
          </a:xfrm>
          <a:prstGeom prst="roundRect">
            <a:avLst>
              <a:gd name="adj" fmla="val 12308"/>
            </a:avLst>
          </a:prstGeom>
          <a:solidFill>
            <a:srgbClr val="E87722"/>
          </a:solidFill>
          <a:ln w="12700">
            <a:solidFill>
              <a:srgbClr val="E87722"/>
            </a:solidFill>
            <a:prstDash val="solid"/>
          </a:ln>
        </p:spPr>
      </p:sp>
      <p:sp>
        <p:nvSpPr>
          <p:cNvPr id="13" name="Text 11"/>
          <p:cNvSpPr txBox="1"/>
          <p:nvPr/>
        </p:nvSpPr>
        <p:spPr>
          <a:xfrm>
            <a:off x="3931920" y="1508760"/>
            <a:ext cx="146304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Next</a:t>
            </a:r>
            <a:endParaRPr lang="en-US" sz="1300" dirty="0"/>
          </a:p>
        </p:txBody>
      </p:sp>
      <p:sp>
        <p:nvSpPr>
          <p:cNvPr id="14" name="Text 12"/>
          <p:cNvSpPr txBox="1"/>
          <p:nvPr/>
        </p:nvSpPr>
        <p:spPr>
          <a:xfrm>
            <a:off x="5394960" y="1508760"/>
            <a:ext cx="228600" cy="594360"/>
          </a:xfrm>
          <a:prstGeom prst="rect">
            <a:avLst/>
          </a:prstGeom>
          <a:noFill/>
          <a:ln/>
        </p:spPr>
        <p:txBody>
          <a:bodyPr wrap="square" lIns="0" tIns="0" rIns="0" bIns="0" rtlCol="0" anchor="ctr"/>
          <a:lstStyle/>
          <a:p>
            <a:pPr algn="ctr" indent="0" marL="0">
              <a:buNone/>
            </a:pPr>
            <a:r>
              <a:rPr lang="en-US" sz="2200" b="1" dirty="0">
                <a:solidFill>
                  <a:srgbClr val="6E6E73"/>
                </a:solidFill>
                <a:latin typeface="Calibri" pitchFamily="34" charset="0"/>
                <a:ea typeface="Calibri" pitchFamily="34" charset="-122"/>
                <a:cs typeface="Calibri" pitchFamily="34" charset="-120"/>
              </a:rPr>
              <a:t>›</a:t>
            </a:r>
            <a:endParaRPr lang="en-US" sz="2200" dirty="0"/>
          </a:p>
        </p:txBody>
      </p:sp>
      <p:sp>
        <p:nvSpPr>
          <p:cNvPr id="15" name="Shape 13"/>
          <p:cNvSpPr/>
          <p:nvPr/>
        </p:nvSpPr>
        <p:spPr>
          <a:xfrm>
            <a:off x="5623560" y="1508760"/>
            <a:ext cx="1463040" cy="594360"/>
          </a:xfrm>
          <a:prstGeom prst="roundRect">
            <a:avLst>
              <a:gd name="adj" fmla="val 12308"/>
            </a:avLst>
          </a:prstGeom>
          <a:solidFill>
            <a:srgbClr val="E87722"/>
          </a:solidFill>
          <a:ln w="12700">
            <a:solidFill>
              <a:srgbClr val="E87722"/>
            </a:solidFill>
            <a:prstDash val="solid"/>
          </a:ln>
        </p:spPr>
      </p:sp>
      <p:sp>
        <p:nvSpPr>
          <p:cNvPr id="16" name="Text 14"/>
          <p:cNvSpPr txBox="1"/>
          <p:nvPr/>
        </p:nvSpPr>
        <p:spPr>
          <a:xfrm>
            <a:off x="5623560" y="1508760"/>
            <a:ext cx="146304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Proposal</a:t>
            </a:r>
            <a:endParaRPr lang="en-US" sz="1300" dirty="0"/>
          </a:p>
        </p:txBody>
      </p:sp>
      <p:sp>
        <p:nvSpPr>
          <p:cNvPr id="17" name="Text 15"/>
          <p:cNvSpPr txBox="1"/>
          <p:nvPr/>
        </p:nvSpPr>
        <p:spPr>
          <a:xfrm>
            <a:off x="7086600" y="1508760"/>
            <a:ext cx="228600" cy="594360"/>
          </a:xfrm>
          <a:prstGeom prst="rect">
            <a:avLst/>
          </a:prstGeom>
          <a:noFill/>
          <a:ln/>
        </p:spPr>
        <p:txBody>
          <a:bodyPr wrap="square" lIns="0" tIns="0" rIns="0" bIns="0" rtlCol="0" anchor="ctr"/>
          <a:lstStyle/>
          <a:p>
            <a:pPr algn="ctr" indent="0" marL="0">
              <a:buNone/>
            </a:pPr>
            <a:r>
              <a:rPr lang="en-US" sz="2200" b="1" dirty="0">
                <a:solidFill>
                  <a:srgbClr val="6E6E73"/>
                </a:solidFill>
                <a:latin typeface="Calibri" pitchFamily="34" charset="0"/>
                <a:ea typeface="Calibri" pitchFamily="34" charset="-122"/>
                <a:cs typeface="Calibri" pitchFamily="34" charset="-120"/>
              </a:rPr>
              <a:t>›</a:t>
            </a:r>
            <a:endParaRPr lang="en-US" sz="2200" dirty="0"/>
          </a:p>
        </p:txBody>
      </p:sp>
      <p:sp>
        <p:nvSpPr>
          <p:cNvPr id="18" name="Shape 16"/>
          <p:cNvSpPr/>
          <p:nvPr/>
        </p:nvSpPr>
        <p:spPr>
          <a:xfrm>
            <a:off x="7315200" y="1508760"/>
            <a:ext cx="1463040" cy="594360"/>
          </a:xfrm>
          <a:prstGeom prst="roundRect">
            <a:avLst>
              <a:gd name="adj" fmla="val 12308"/>
            </a:avLst>
          </a:prstGeom>
          <a:solidFill>
            <a:srgbClr val="0A0F1A"/>
          </a:solidFill>
          <a:ln w="12700">
            <a:solidFill>
              <a:srgbClr val="0A0F1A"/>
            </a:solidFill>
            <a:prstDash val="solid"/>
          </a:ln>
        </p:spPr>
      </p:sp>
      <p:sp>
        <p:nvSpPr>
          <p:cNvPr id="19" name="Text 17"/>
          <p:cNvSpPr txBox="1"/>
          <p:nvPr/>
        </p:nvSpPr>
        <p:spPr>
          <a:xfrm>
            <a:off x="7315200" y="1508760"/>
            <a:ext cx="146304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Closed · Won</a:t>
            </a:r>
            <a:endParaRPr lang="en-US" sz="1300" dirty="0"/>
          </a:p>
        </p:txBody>
      </p:sp>
      <p:sp>
        <p:nvSpPr>
          <p:cNvPr id="20" name="Shape 18"/>
          <p:cNvSpPr/>
          <p:nvPr/>
        </p:nvSpPr>
        <p:spPr>
          <a:xfrm>
            <a:off x="548640" y="2514600"/>
            <a:ext cx="2560320" cy="196596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21" name="Text 19"/>
          <p:cNvSpPr txBox="1"/>
          <p:nvPr/>
        </p:nvSpPr>
        <p:spPr>
          <a:xfrm>
            <a:off x="731520" y="2651760"/>
            <a:ext cx="2194560" cy="365760"/>
          </a:xfrm>
          <a:prstGeom prst="rect">
            <a:avLst/>
          </a:prstGeom>
          <a:noFill/>
          <a:ln/>
        </p:spPr>
        <p:txBody>
          <a:bodyPr wrap="square" lIns="0" tIns="0" rIns="0" bIns="0" rtlCol="0" anchor="ctr"/>
          <a:lstStyle/>
          <a:p>
            <a:pPr indent="0" marL="0">
              <a:buNone/>
            </a:pPr>
            <a:r>
              <a:rPr lang="en-US" sz="1500" b="1" dirty="0">
                <a:solidFill>
                  <a:srgbClr val="D45F1A"/>
                </a:solidFill>
                <a:latin typeface="Calibri" pitchFamily="34" charset="0"/>
                <a:ea typeface="Calibri" pitchFamily="34" charset="-122"/>
                <a:cs typeface="Calibri" pitchFamily="34" charset="-120"/>
              </a:rPr>
              <a:t>Quotes and approvals</a:t>
            </a:r>
            <a:endParaRPr lang="en-US" sz="1500" dirty="0"/>
          </a:p>
        </p:txBody>
      </p:sp>
      <p:sp>
        <p:nvSpPr>
          <p:cNvPr id="22" name="Text 20"/>
          <p:cNvSpPr txBox="1"/>
          <p:nvPr/>
        </p:nvSpPr>
        <p:spPr>
          <a:xfrm>
            <a:off x="731520" y="3108960"/>
            <a:ext cx="2240280" cy="128016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A1A2E"/>
                </a:solidFill>
                <a:latin typeface="Calibri" pitchFamily="34" charset="0"/>
                <a:ea typeface="Calibri" pitchFamily="34" charset="-122"/>
                <a:cs typeface="Calibri" pitchFamily="34" charset="-120"/>
              </a:rPr>
              <a:t>Up to 5%: auto-approved</a:t>
            </a:r>
            <a:endParaRPr lang="en-US" sz="1150" dirty="0"/>
          </a:p>
          <a:p>
            <a:pPr marL="342900" indent="-342900">
              <a:spcAft>
                <a:spcPts val="600"/>
              </a:spcAft>
              <a:buSzPct val="100000"/>
              <a:buChar char="•"/>
            </a:pPr>
            <a:r>
              <a:rPr lang="en-US" sz="1150" dirty="0">
                <a:solidFill>
                  <a:srgbClr val="1A1A2E"/>
                </a:solidFill>
                <a:latin typeface="Calibri" pitchFamily="34" charset="0"/>
                <a:ea typeface="Calibri" pitchFamily="34" charset="-122"/>
                <a:cs typeface="Calibri" pitchFamily="34" charset="-120"/>
              </a:rPr>
              <a:t>5% to 15%: Admin approves</a:t>
            </a:r>
            <a:endParaRPr lang="en-US" sz="1150" dirty="0"/>
          </a:p>
          <a:p>
            <a:pPr marL="342900" indent="-342900">
              <a:spcAft>
                <a:spcPts val="600"/>
              </a:spcAft>
              <a:buSzPct val="100000"/>
              <a:buChar char="•"/>
            </a:pPr>
            <a:r>
              <a:rPr lang="en-US" sz="1150" dirty="0">
                <a:solidFill>
                  <a:srgbClr val="1A1A2E"/>
                </a:solidFill>
                <a:latin typeface="Calibri" pitchFamily="34" charset="0"/>
                <a:ea typeface="Calibri" pitchFamily="34" charset="-122"/>
                <a:cs typeface="Calibri" pitchFamily="34" charset="-120"/>
              </a:rPr>
              <a:t>Above 15% or below price floor: CEO</a:t>
            </a:r>
            <a:endParaRPr lang="en-US" sz="1150" dirty="0"/>
          </a:p>
        </p:txBody>
      </p:sp>
      <p:sp>
        <p:nvSpPr>
          <p:cNvPr id="23" name="Shape 21"/>
          <p:cNvSpPr/>
          <p:nvPr/>
        </p:nvSpPr>
        <p:spPr>
          <a:xfrm>
            <a:off x="3337560" y="2514600"/>
            <a:ext cx="2560320" cy="196596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24" name="Text 22"/>
          <p:cNvSpPr txBox="1"/>
          <p:nvPr/>
        </p:nvSpPr>
        <p:spPr>
          <a:xfrm>
            <a:off x="3520440" y="2651760"/>
            <a:ext cx="2194560" cy="365760"/>
          </a:xfrm>
          <a:prstGeom prst="rect">
            <a:avLst/>
          </a:prstGeom>
          <a:noFill/>
          <a:ln/>
        </p:spPr>
        <p:txBody>
          <a:bodyPr wrap="square" lIns="0" tIns="0" rIns="0" bIns="0" rtlCol="0" anchor="ctr"/>
          <a:lstStyle/>
          <a:p>
            <a:pPr indent="0" marL="0">
              <a:buNone/>
            </a:pPr>
            <a:r>
              <a:rPr lang="en-US" sz="1500" b="1" dirty="0">
                <a:solidFill>
                  <a:srgbClr val="D45F1A"/>
                </a:solidFill>
                <a:latin typeface="Calibri" pitchFamily="34" charset="0"/>
                <a:ea typeface="Calibri" pitchFamily="34" charset="-122"/>
                <a:cs typeface="Calibri" pitchFamily="34" charset="-120"/>
              </a:rPr>
              <a:t>Invoices and payments</a:t>
            </a:r>
            <a:endParaRPr lang="en-US" sz="1500" dirty="0"/>
          </a:p>
        </p:txBody>
      </p:sp>
      <p:sp>
        <p:nvSpPr>
          <p:cNvPr id="25" name="Text 23"/>
          <p:cNvSpPr txBox="1"/>
          <p:nvPr/>
        </p:nvSpPr>
        <p:spPr>
          <a:xfrm>
            <a:off x="3520440" y="3108960"/>
            <a:ext cx="2240280" cy="128016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A1A2E"/>
                </a:solidFill>
                <a:latin typeface="Calibri" pitchFamily="34" charset="0"/>
                <a:ea typeface="Calibri" pitchFamily="34" charset="-122"/>
                <a:cs typeface="Calibri" pitchFamily="34" charset="-120"/>
              </a:rPr>
              <a:t>Invoice created from the final quote</a:t>
            </a:r>
            <a:endParaRPr lang="en-US" sz="1150" dirty="0"/>
          </a:p>
          <a:p>
            <a:pPr marL="342900" indent="-342900">
              <a:spcAft>
                <a:spcPts val="600"/>
              </a:spcAft>
              <a:buSzPct val="100000"/>
              <a:buChar char="•"/>
            </a:pPr>
            <a:r>
              <a:rPr lang="en-US" sz="1150" dirty="0">
                <a:solidFill>
                  <a:srgbClr val="1A1A2E"/>
                </a:solidFill>
                <a:latin typeface="Calibri" pitchFamily="34" charset="0"/>
                <a:ea typeface="Calibri" pitchFamily="34" charset="-122"/>
                <a:cs typeface="Calibri" pitchFamily="34" charset="-120"/>
              </a:rPr>
              <a:t>Monthly and annual payment schedules</a:t>
            </a:r>
            <a:endParaRPr lang="en-US" sz="1150" dirty="0"/>
          </a:p>
          <a:p>
            <a:pPr marL="342900" indent="-342900">
              <a:spcAft>
                <a:spcPts val="600"/>
              </a:spcAft>
              <a:buSzPct val="100000"/>
              <a:buChar char="•"/>
            </a:pPr>
            <a:r>
              <a:rPr lang="en-US" sz="1150" dirty="0">
                <a:solidFill>
                  <a:srgbClr val="1A1A2E"/>
                </a:solidFill>
                <a:latin typeface="Calibri" pitchFamily="34" charset="0"/>
                <a:ea typeface="Calibri" pitchFamily="34" charset="-122"/>
                <a:cs typeface="Calibri" pitchFamily="34" charset="-120"/>
              </a:rPr>
              <a:t>Reminders before every due date</a:t>
            </a:r>
            <a:endParaRPr lang="en-US" sz="1150" dirty="0"/>
          </a:p>
        </p:txBody>
      </p:sp>
      <p:sp>
        <p:nvSpPr>
          <p:cNvPr id="26" name="Shape 24"/>
          <p:cNvSpPr/>
          <p:nvPr/>
        </p:nvSpPr>
        <p:spPr>
          <a:xfrm>
            <a:off x="6126480" y="2514600"/>
            <a:ext cx="2560320" cy="1965960"/>
          </a:xfrm>
          <a:prstGeom prst="rect">
            <a:avLst/>
          </a:prstGeom>
          <a:solidFill>
            <a:srgbClr val="FFFFFF"/>
          </a:solidFill>
          <a:ln w="9525">
            <a:solidFill>
              <a:srgbClr val="E4E4E0"/>
            </a:solidFill>
            <a:prstDash val="solid"/>
          </a:ln>
          <a:effectLst>
            <a:outerShdw sx="100000" sy="100000" kx="0" ky="0" algn="bl" rotWithShape="0" blurRad="101600" dist="25400" dir="5400000">
              <a:srgbClr val="000000">
                <a:alpha val="8000"/>
              </a:srgbClr>
            </a:outerShdw>
          </a:effectLst>
        </p:spPr>
      </p:sp>
      <p:sp>
        <p:nvSpPr>
          <p:cNvPr id="27" name="Text 25"/>
          <p:cNvSpPr txBox="1"/>
          <p:nvPr/>
        </p:nvSpPr>
        <p:spPr>
          <a:xfrm>
            <a:off x="6309360" y="2651760"/>
            <a:ext cx="2194560" cy="365760"/>
          </a:xfrm>
          <a:prstGeom prst="rect">
            <a:avLst/>
          </a:prstGeom>
          <a:noFill/>
          <a:ln/>
        </p:spPr>
        <p:txBody>
          <a:bodyPr wrap="square" lIns="0" tIns="0" rIns="0" bIns="0" rtlCol="0" anchor="ctr"/>
          <a:lstStyle/>
          <a:p>
            <a:pPr indent="0" marL="0">
              <a:buNone/>
            </a:pPr>
            <a:r>
              <a:rPr lang="en-US" sz="1500" b="1" dirty="0">
                <a:solidFill>
                  <a:srgbClr val="D45F1A"/>
                </a:solidFill>
                <a:latin typeface="Calibri" pitchFamily="34" charset="0"/>
                <a:ea typeface="Calibri" pitchFamily="34" charset="-122"/>
                <a:cs typeface="Calibri" pitchFamily="34" charset="-120"/>
              </a:rPr>
              <a:t>Insight and control</a:t>
            </a:r>
            <a:endParaRPr lang="en-US" sz="1500" dirty="0"/>
          </a:p>
        </p:txBody>
      </p:sp>
      <p:sp>
        <p:nvSpPr>
          <p:cNvPr id="28" name="Text 26"/>
          <p:cNvSpPr txBox="1"/>
          <p:nvPr/>
        </p:nvSpPr>
        <p:spPr>
          <a:xfrm>
            <a:off x="6309360" y="3108960"/>
            <a:ext cx="2240280" cy="128016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A1A2E"/>
                </a:solidFill>
                <a:latin typeface="Calibri" pitchFamily="34" charset="0"/>
                <a:ea typeface="Calibri" pitchFamily="34" charset="-122"/>
                <a:cs typeface="Calibri" pitchFamily="34" charset="-120"/>
              </a:rPr>
              <a:t>Reports with CSV export</a:t>
            </a:r>
            <a:endParaRPr lang="en-US" sz="1150" dirty="0"/>
          </a:p>
          <a:p>
            <a:pPr marL="342900" indent="-342900">
              <a:spcAft>
                <a:spcPts val="600"/>
              </a:spcAft>
              <a:buSzPct val="100000"/>
              <a:buChar char="•"/>
            </a:pPr>
            <a:r>
              <a:rPr lang="en-US" sz="1150" dirty="0">
                <a:solidFill>
                  <a:srgbClr val="1A1A2E"/>
                </a:solidFill>
                <a:latin typeface="Calibri" pitchFamily="34" charset="0"/>
                <a:ea typeface="Calibri" pitchFamily="34" charset="-122"/>
                <a:cs typeface="Calibri" pitchFamily="34" charset="-120"/>
              </a:rPr>
              <a:t>Lost-deal reasons on every cancellation</a:t>
            </a:r>
            <a:endParaRPr lang="en-US" sz="1150" dirty="0"/>
          </a:p>
          <a:p>
            <a:pPr marL="342900" indent="-342900">
              <a:spcAft>
                <a:spcPts val="600"/>
              </a:spcAft>
              <a:buSzPct val="100000"/>
              <a:buChar char="•"/>
            </a:pPr>
            <a:r>
              <a:rPr lang="en-US" sz="1150" dirty="0">
                <a:solidFill>
                  <a:srgbClr val="1A1A2E"/>
                </a:solidFill>
                <a:latin typeface="Calibri" pitchFamily="34" charset="0"/>
                <a:ea typeface="Calibri" pitchFamily="34" charset="-122"/>
                <a:cs typeface="Calibri" pitchFamily="34" charset="-120"/>
              </a:rPr>
              <a:t>Audit log of every action</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F1A"/>
        </a:solidFill>
      </p:bgPr>
    </p:bg>
    <p:spTree>
      <p:nvGrpSpPr>
        <p:cNvPr id="1" name=""/>
        <p:cNvGrpSpPr/>
        <p:nvPr/>
      </p:nvGrpSpPr>
      <p:grpSpPr>
        <a:xfrm>
          <a:off x="0" y="0"/>
          <a:ext cx="0" cy="0"/>
          <a:chOff x="0" y="0"/>
          <a:chExt cx="0" cy="0"/>
        </a:xfrm>
      </p:grpSpPr>
      <p:sp>
        <p:nvSpPr>
          <p:cNvPr id="2" name="Text 0"/>
          <p:cNvSpPr txBox="1"/>
          <p:nvPr/>
        </p:nvSpPr>
        <p:spPr>
          <a:xfrm>
            <a:off x="548640" y="548640"/>
            <a:ext cx="7315200" cy="64008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Next steps</a:t>
            </a:r>
            <a:endParaRPr lang="en-US" sz="3400" dirty="0"/>
          </a:p>
        </p:txBody>
      </p:sp>
      <p:sp>
        <p:nvSpPr>
          <p:cNvPr id="3" name="Text 1"/>
          <p:cNvSpPr txBox="1"/>
          <p:nvPr/>
        </p:nvSpPr>
        <p:spPr>
          <a:xfrm>
            <a:off x="548640" y="1188720"/>
            <a:ext cx="7772400" cy="365760"/>
          </a:xfrm>
          <a:prstGeom prst="rect">
            <a:avLst/>
          </a:prstGeom>
          <a:noFill/>
          <a:ln/>
        </p:spPr>
        <p:txBody>
          <a:bodyPr wrap="square" lIns="0" tIns="0" rIns="0" bIns="0" rtlCol="0" anchor="ctr"/>
          <a:lstStyle/>
          <a:p>
            <a:pPr indent="0" marL="0">
              <a:buNone/>
            </a:pPr>
            <a:r>
              <a:rPr lang="en-US" sz="1500" dirty="0">
                <a:solidFill>
                  <a:srgbClr val="C9CAD3"/>
                </a:solidFill>
                <a:latin typeface="Calibri" pitchFamily="34" charset="0"/>
                <a:ea typeface="Calibri" pitchFamily="34" charset="-122"/>
                <a:cs typeface="Calibri" pitchFamily="34" charset="-120"/>
              </a:rPr>
              <a:t>A simple path from today’s conversation to a working pipeline.</a:t>
            </a:r>
            <a:endParaRPr lang="en-US" sz="1500" dirty="0"/>
          </a:p>
        </p:txBody>
      </p:sp>
      <p:sp>
        <p:nvSpPr>
          <p:cNvPr id="4" name="Shape 2"/>
          <p:cNvSpPr/>
          <p:nvPr/>
        </p:nvSpPr>
        <p:spPr>
          <a:xfrm>
            <a:off x="548640" y="2286000"/>
            <a:ext cx="594360" cy="594360"/>
          </a:xfrm>
          <a:prstGeom prst="ellipse">
            <a:avLst/>
          </a:prstGeom>
          <a:solidFill>
            <a:srgbClr val="E87722"/>
          </a:solidFill>
          <a:ln w="12700">
            <a:solidFill>
              <a:srgbClr val="E87722"/>
            </a:solidFill>
            <a:prstDash val="solid"/>
          </a:ln>
        </p:spPr>
      </p:sp>
      <p:sp>
        <p:nvSpPr>
          <p:cNvPr id="5" name="Text 3"/>
          <p:cNvSpPr txBox="1"/>
          <p:nvPr/>
        </p:nvSpPr>
        <p:spPr>
          <a:xfrm>
            <a:off x="548640" y="228600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548640" y="3063240"/>
            <a:ext cx="256032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Live walkthrough</a:t>
            </a:r>
            <a:endParaRPr lang="en-US" sz="1800" dirty="0"/>
          </a:p>
        </p:txBody>
      </p:sp>
      <p:sp>
        <p:nvSpPr>
          <p:cNvPr id="7" name="Text 5"/>
          <p:cNvSpPr txBox="1"/>
          <p:nvPr/>
        </p:nvSpPr>
        <p:spPr>
          <a:xfrm>
            <a:off x="548640" y="3474720"/>
            <a:ext cx="2468880" cy="822960"/>
          </a:xfrm>
          <a:prstGeom prst="rect">
            <a:avLst/>
          </a:prstGeom>
          <a:noFill/>
          <a:ln/>
        </p:spPr>
        <p:txBody>
          <a:bodyPr wrap="square" lIns="0" tIns="0" rIns="0" bIns="0" rtlCol="0" anchor="t"/>
          <a:lstStyle/>
          <a:p>
            <a:pPr indent="0" marL="0">
              <a:buNone/>
            </a:pPr>
            <a:r>
              <a:rPr lang="en-US" sz="1300" dirty="0">
                <a:solidFill>
                  <a:srgbClr val="C9CAD3"/>
                </a:solidFill>
                <a:latin typeface="Calibri" pitchFamily="34" charset="0"/>
                <a:ea typeface="Calibri" pitchFamily="34" charset="-122"/>
                <a:cs typeface="Calibri" pitchFamily="34" charset="-120"/>
              </a:rPr>
              <a:t>See Pipeline CRM with your own deals and team structure.</a:t>
            </a:r>
            <a:endParaRPr lang="en-US" sz="1300" dirty="0"/>
          </a:p>
        </p:txBody>
      </p:sp>
      <p:sp>
        <p:nvSpPr>
          <p:cNvPr id="8" name="Shape 6"/>
          <p:cNvSpPr/>
          <p:nvPr/>
        </p:nvSpPr>
        <p:spPr>
          <a:xfrm>
            <a:off x="3337560" y="2286000"/>
            <a:ext cx="594360" cy="594360"/>
          </a:xfrm>
          <a:prstGeom prst="ellipse">
            <a:avLst/>
          </a:prstGeom>
          <a:solidFill>
            <a:srgbClr val="E87722"/>
          </a:solidFill>
          <a:ln w="12700">
            <a:solidFill>
              <a:srgbClr val="E87722"/>
            </a:solidFill>
            <a:prstDash val="solid"/>
          </a:ln>
        </p:spPr>
      </p:sp>
      <p:sp>
        <p:nvSpPr>
          <p:cNvPr id="9" name="Text 7"/>
          <p:cNvSpPr txBox="1"/>
          <p:nvPr/>
        </p:nvSpPr>
        <p:spPr>
          <a:xfrm>
            <a:off x="3337560" y="228600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txBox="1"/>
          <p:nvPr/>
        </p:nvSpPr>
        <p:spPr>
          <a:xfrm>
            <a:off x="3337560" y="3063240"/>
            <a:ext cx="256032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Configure</a:t>
            </a:r>
            <a:endParaRPr lang="en-US" sz="1800" dirty="0"/>
          </a:p>
        </p:txBody>
      </p:sp>
      <p:sp>
        <p:nvSpPr>
          <p:cNvPr id="11" name="Text 9"/>
          <p:cNvSpPr txBox="1"/>
          <p:nvPr/>
        </p:nvSpPr>
        <p:spPr>
          <a:xfrm>
            <a:off x="3337560" y="3474720"/>
            <a:ext cx="2468880" cy="822960"/>
          </a:xfrm>
          <a:prstGeom prst="rect">
            <a:avLst/>
          </a:prstGeom>
          <a:noFill/>
          <a:ln/>
        </p:spPr>
        <p:txBody>
          <a:bodyPr wrap="square" lIns="0" tIns="0" rIns="0" bIns="0" rtlCol="0" anchor="t"/>
          <a:lstStyle/>
          <a:p>
            <a:pPr indent="0" marL="0">
              <a:buNone/>
            </a:pPr>
            <a:r>
              <a:rPr lang="en-US" sz="1300" dirty="0">
                <a:solidFill>
                  <a:srgbClr val="C9CAD3"/>
                </a:solidFill>
                <a:latin typeface="Calibri" pitchFamily="34" charset="0"/>
                <a:ea typeface="Calibri" pitchFamily="34" charset="-122"/>
                <a:cs typeface="Calibri" pitchFamily="34" charset="-120"/>
              </a:rPr>
              <a:t>Set approval limits, product catalogue and reminder timing.</a:t>
            </a:r>
            <a:endParaRPr lang="en-US" sz="1300" dirty="0"/>
          </a:p>
        </p:txBody>
      </p:sp>
      <p:sp>
        <p:nvSpPr>
          <p:cNvPr id="12" name="Shape 10"/>
          <p:cNvSpPr/>
          <p:nvPr/>
        </p:nvSpPr>
        <p:spPr>
          <a:xfrm>
            <a:off x="6126480" y="2286000"/>
            <a:ext cx="594360" cy="594360"/>
          </a:xfrm>
          <a:prstGeom prst="ellipse">
            <a:avLst/>
          </a:prstGeom>
          <a:solidFill>
            <a:srgbClr val="E87722"/>
          </a:solidFill>
          <a:ln w="12700">
            <a:solidFill>
              <a:srgbClr val="E87722"/>
            </a:solidFill>
            <a:prstDash val="solid"/>
          </a:ln>
        </p:spPr>
      </p:sp>
      <p:sp>
        <p:nvSpPr>
          <p:cNvPr id="13" name="Text 11"/>
          <p:cNvSpPr txBox="1"/>
          <p:nvPr/>
        </p:nvSpPr>
        <p:spPr>
          <a:xfrm>
            <a:off x="6126480" y="228600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4" name="Text 12"/>
          <p:cNvSpPr txBox="1"/>
          <p:nvPr/>
        </p:nvSpPr>
        <p:spPr>
          <a:xfrm>
            <a:off x="6126480" y="3063240"/>
            <a:ext cx="256032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Roll out</a:t>
            </a:r>
            <a:endParaRPr lang="en-US" sz="1800" dirty="0"/>
          </a:p>
        </p:txBody>
      </p:sp>
      <p:sp>
        <p:nvSpPr>
          <p:cNvPr id="15" name="Text 13"/>
          <p:cNvSpPr txBox="1"/>
          <p:nvPr/>
        </p:nvSpPr>
        <p:spPr>
          <a:xfrm>
            <a:off x="6126480" y="3474720"/>
            <a:ext cx="2468880" cy="822960"/>
          </a:xfrm>
          <a:prstGeom prst="rect">
            <a:avLst/>
          </a:prstGeom>
          <a:noFill/>
          <a:ln/>
        </p:spPr>
        <p:txBody>
          <a:bodyPr wrap="square" lIns="0" tIns="0" rIns="0" bIns="0" rtlCol="0" anchor="t"/>
          <a:lstStyle/>
          <a:p>
            <a:pPr indent="0" marL="0">
              <a:buNone/>
            </a:pPr>
            <a:r>
              <a:rPr lang="en-US" sz="1300" dirty="0">
                <a:solidFill>
                  <a:srgbClr val="C9CAD3"/>
                </a:solidFill>
                <a:latin typeface="Calibri" pitchFamily="34" charset="0"/>
                <a:ea typeface="Calibri" pitchFamily="34" charset="-122"/>
                <a:cs typeface="Calibri" pitchFamily="34" charset="-120"/>
              </a:rPr>
              <a:t>Create rep accounts and start tracking your pipeline.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Pipeline CRM</dc:title>
  <dc:subject>PptxGenJS Presentation</dc:subject>
  <dc:creator>PptxGenJS</dc:creator>
  <cp:lastModifiedBy>PptxGenJS</cp:lastModifiedBy>
  <cp:revision>1</cp:revision>
  <dcterms:created xsi:type="dcterms:W3CDTF">2026-10-25T13:27:50Z</dcterms:created>
  <dcterms:modified xsi:type="dcterms:W3CDTF">2026-10-25T13:27:50Z</dcterms:modified>
</cp:coreProperties>
</file>